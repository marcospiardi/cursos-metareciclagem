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7" r:id="rId9"/>
    <p:sldId id="262" r:id="rId10"/>
    <p:sldId id="263" r:id="rId11"/>
    <p:sldId id="264" r:id="rId12"/>
    <p:sldId id="265" r:id="rId13"/>
  </p:sldIdLst>
  <p:sldSz cx="12192000" cy="6858000"/>
  <p:notesSz cx="6858000" cy="12192000"/>
  <p:embeddedFontLst>
    <p:embeddedFont>
      <p:font typeface="IBM Plex Mono" charset="0"/>
      <p:regular r:id="rId15"/>
      <p:bold r:id="rId16"/>
    </p:embeddedFon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DM Sans" charset="0"/>
      <p:regular r:id="rId21"/>
    </p:embeddedFont>
    <p:embeddedFont>
      <p:font typeface="Bricolage Grotesque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-546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-1-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-1-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-8.svg"/><Relationship Id="rId3" Type="http://schemas.openxmlformats.org/officeDocument/2006/relationships/image" Target="../media/image4.png"/><Relationship Id="rId7" Type="http://schemas.openxmlformats.org/officeDocument/2006/relationships/image" Target="../media/image-2-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2-4.svg"/><Relationship Id="rId5" Type="http://schemas.openxmlformats.org/officeDocument/2006/relationships/image" Target="../media/image5.png"/><Relationship Id="rId10" Type="http://schemas.openxmlformats.org/officeDocument/2006/relationships/image" Target="../media/image-2-10.svg"/><Relationship Id="rId4" Type="http://schemas.openxmlformats.org/officeDocument/2006/relationships/image" Target="../media/image-2-2.sv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8.svg"/><Relationship Id="rId18" Type="http://schemas.openxmlformats.org/officeDocument/2006/relationships/image" Target="../media/image-3-18.svg"/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12" Type="http://schemas.openxmlformats.org/officeDocument/2006/relationships/image" Target="../media/image-3-12.sv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-3-1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3-6.svg"/><Relationship Id="rId5" Type="http://schemas.openxmlformats.org/officeDocument/2006/relationships/image" Target="../media/image-3-4.svg"/><Relationship Id="rId10" Type="http://schemas.openxmlformats.org/officeDocument/2006/relationships/image" Target="../media/image-3-10.svg"/><Relationship Id="rId4" Type="http://schemas.openxmlformats.org/officeDocument/2006/relationships/image" Target="../media/image-3-2.svg"/><Relationship Id="rId14" Type="http://schemas.openxmlformats.org/officeDocument/2006/relationships/image" Target="../media/image-3-1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8.svg"/><Relationship Id="rId18" Type="http://schemas.openxmlformats.org/officeDocument/2006/relationships/image" Target="../media/image-4-18.svg"/><Relationship Id="rId26" Type="http://schemas.openxmlformats.org/officeDocument/2006/relationships/image" Target="../media/image-4-26.svg"/><Relationship Id="rId39" Type="http://schemas.openxmlformats.org/officeDocument/2006/relationships/image" Target="../media/image15.png"/><Relationship Id="rId3" Type="http://schemas.openxmlformats.org/officeDocument/2006/relationships/image" Target="../media/image11.png"/><Relationship Id="rId34" Type="http://schemas.openxmlformats.org/officeDocument/2006/relationships/image" Target="../media/image-4-34.svg"/><Relationship Id="rId42" Type="http://schemas.openxmlformats.org/officeDocument/2006/relationships/image" Target="../media/image-4-42.svg"/><Relationship Id="rId50" Type="http://schemas.openxmlformats.org/officeDocument/2006/relationships/image" Target="../media/image-4-50.svg"/><Relationship Id="rId7" Type="http://schemas.openxmlformats.org/officeDocument/2006/relationships/image" Target="../media/image-4-6.svg"/><Relationship Id="rId12" Type="http://schemas.openxmlformats.org/officeDocument/2006/relationships/image" Target="../media/image-4-12.svg"/><Relationship Id="rId38" Type="http://schemas.openxmlformats.org/officeDocument/2006/relationships/image" Target="../media/image-4-38.svg"/><Relationship Id="rId46" Type="http://schemas.openxmlformats.org/officeDocument/2006/relationships/image" Target="../media/image-4-46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-4-16.svg"/><Relationship Id="rId20" Type="http://schemas.openxmlformats.org/officeDocument/2006/relationships/image" Target="../media/image-4-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4-4.svg"/><Relationship Id="rId24" Type="http://schemas.openxmlformats.org/officeDocument/2006/relationships/image" Target="../media/image-4-24.svg"/><Relationship Id="rId32" Type="http://schemas.openxmlformats.org/officeDocument/2006/relationships/image" Target="../media/image-4-32.svg"/><Relationship Id="rId37" Type="http://schemas.openxmlformats.org/officeDocument/2006/relationships/image" Target="../media/image14.png"/><Relationship Id="rId40" Type="http://schemas.openxmlformats.org/officeDocument/2006/relationships/image" Target="../media/image-4-40.svg"/><Relationship Id="rId5" Type="http://schemas.openxmlformats.org/officeDocument/2006/relationships/image" Target="../media/image12.png"/><Relationship Id="rId28" Type="http://schemas.openxmlformats.org/officeDocument/2006/relationships/image" Target="../media/image-4-28.svg"/><Relationship Id="rId36" Type="http://schemas.openxmlformats.org/officeDocument/2006/relationships/image" Target="../media/image-4-36.svg"/><Relationship Id="rId49" Type="http://schemas.openxmlformats.org/officeDocument/2006/relationships/image" Target="../media/image16.png"/><Relationship Id="rId10" Type="http://schemas.openxmlformats.org/officeDocument/2006/relationships/image" Target="../media/image-4-10.svg"/><Relationship Id="rId19" Type="http://schemas.openxmlformats.org/officeDocument/2006/relationships/image" Target="../media/image13.png"/><Relationship Id="rId44" Type="http://schemas.openxmlformats.org/officeDocument/2006/relationships/image" Target="../media/image-4-44.svg"/><Relationship Id="rId4" Type="http://schemas.openxmlformats.org/officeDocument/2006/relationships/image" Target="../media/image-4-2.svg"/><Relationship Id="rId14" Type="http://schemas.openxmlformats.org/officeDocument/2006/relationships/image" Target="../media/image-4-14.svg"/><Relationship Id="rId22" Type="http://schemas.openxmlformats.org/officeDocument/2006/relationships/image" Target="../media/image-4-22.svg"/><Relationship Id="rId30" Type="http://schemas.openxmlformats.org/officeDocument/2006/relationships/image" Target="../media/image-4-30.svg"/><Relationship Id="rId48" Type="http://schemas.openxmlformats.org/officeDocument/2006/relationships/image" Target="../media/image-4-4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-5-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6-4.svg"/><Relationship Id="rId5" Type="http://schemas.openxmlformats.org/officeDocument/2006/relationships/image" Target="../media/image19.png"/><Relationship Id="rId4" Type="http://schemas.openxmlformats.org/officeDocument/2006/relationships/image" Target="../media/image-6-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6.sv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image" Target="../media/image-7-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7-4.svg"/><Relationship Id="rId5" Type="http://schemas.openxmlformats.org/officeDocument/2006/relationships/image" Target="../media/image22.png"/><Relationship Id="rId10" Type="http://schemas.openxmlformats.org/officeDocument/2006/relationships/image" Target="../media/image-7-10.svg"/><Relationship Id="rId4" Type="http://schemas.openxmlformats.org/officeDocument/2006/relationships/image" Target="../media/image-7-2.svg"/><Relationship Id="rId9" Type="http://schemas.openxmlformats.org/officeDocument/2006/relationships/image" Target="../media/image-7-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-8-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-9-6.sv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12" Type="http://schemas.openxmlformats.org/officeDocument/2006/relationships/image" Target="../media/image-9-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9-4.svg"/><Relationship Id="rId11" Type="http://schemas.openxmlformats.org/officeDocument/2006/relationships/image" Target="../media/image28.png"/><Relationship Id="rId5" Type="http://schemas.openxmlformats.org/officeDocument/2006/relationships/image" Target="../media/image26.png"/><Relationship Id="rId10" Type="http://schemas.openxmlformats.org/officeDocument/2006/relationships/image" Target="../media/image-9-10.svg"/><Relationship Id="rId4" Type="http://schemas.openxmlformats.org/officeDocument/2006/relationships/image" Target="../media/image-9-2.svg"/><Relationship Id="rId9" Type="http://schemas.openxmlformats.org/officeDocument/2006/relationships/image" Target="../media/image-9-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-10-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-10-3.sv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__type_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  <p:sp>
        <p:nvSpPr>
          <p:cNvPr id="3" name="TextBox 4"/>
          <p:cNvSpPr/>
          <p:nvPr/>
        </p:nvSpPr>
        <p:spPr>
          <a:xfrm>
            <a:off x="812780" y="838265"/>
            <a:ext cx="5968851" cy="18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EVENTOSMETA / METARECICLAGEM</a:t>
            </a:r>
            <a:endParaRPr lang="en-US" sz="900" dirty="0"/>
          </a:p>
        </p:txBody>
      </p:sp>
      <p:sp>
        <p:nvSpPr>
          <p:cNvPr id="4" name="TextBox 6"/>
          <p:cNvSpPr/>
          <p:nvPr/>
        </p:nvSpPr>
        <p:spPr>
          <a:xfrm>
            <a:off x="812780" y="2933712"/>
            <a:ext cx="4571886" cy="67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Portal da Prefeitura de Sorocaba para gestão de inscrições, classificação e acompanhamento acadêmico de cursos e eventos.</a:t>
            </a:r>
            <a:endParaRPr lang="en-US" sz="1200" dirty="0"/>
          </a:p>
        </p:txBody>
      </p:sp>
      <p:sp>
        <p:nvSpPr>
          <p:cNvPr id="5" name="TextBox 5"/>
          <p:cNvSpPr/>
          <p:nvPr/>
        </p:nvSpPr>
        <p:spPr>
          <a:xfrm>
            <a:off x="812780" y="1162107"/>
            <a:ext cx="5968851" cy="3930552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3978"/>
              </a:lnSpc>
              <a:buNone/>
            </a:pPr>
            <a:r>
              <a:rPr lang="en-US" sz="3900" b="1" dirty="0">
                <a:solidFill>
                  <a:srgbClr val="102A4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 ciclo municipal</a:t>
            </a:r>
            <a:endParaRPr lang="en-US" sz="3900" dirty="0"/>
          </a:p>
          <a:p>
            <a:pPr marL="0" indent="0" algn="l">
              <a:lnSpc>
                <a:spcPts val="3978"/>
              </a:lnSpc>
              <a:buNone/>
            </a:pPr>
            <a:r>
              <a:rPr lang="en-US" sz="3900" b="1" dirty="0">
                <a:solidFill>
                  <a:srgbClr val="147D9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em uma única plataforma</a:t>
            </a:r>
            <a:endParaRPr lang="en-US" sz="3900" dirty="0"/>
          </a:p>
        </p:txBody>
      </p:sp>
      <p:sp>
        <p:nvSpPr>
          <p:cNvPr id="6" name="Shape 7"/>
          <p:cNvSpPr/>
          <p:nvPr/>
        </p:nvSpPr>
        <p:spPr>
          <a:xfrm>
            <a:off x="812780" y="4832315"/>
            <a:ext cx="4914777" cy="1250919"/>
          </a:xfrm>
          <a:prstGeom prst="rect">
            <a:avLst/>
          </a:prstGeom>
          <a:noFill/>
          <a:ln/>
        </p:spPr>
      </p:sp>
      <p:pic>
        <p:nvPicPr>
          <p:cNvPr id="7" name="Picture 7" descr="__type_image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780" y="4832315"/>
            <a:ext cx="4914777" cy="1250919"/>
          </a:xfrm>
          <a:prstGeom prst="rect">
            <a:avLst/>
          </a:prstGeom>
        </p:spPr>
      </p:pic>
      <p:sp>
        <p:nvSpPr>
          <p:cNvPr id="8" name="TextBox 9"/>
          <p:cNvSpPr/>
          <p:nvPr/>
        </p:nvSpPr>
        <p:spPr>
          <a:xfrm>
            <a:off x="812780" y="4997411"/>
            <a:ext cx="137216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Box 11"/>
          <p:cNvSpPr/>
          <p:nvPr/>
        </p:nvSpPr>
        <p:spPr>
          <a:xfrm>
            <a:off x="812780" y="5626045"/>
            <a:ext cx="1333467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Autoatendimento</a:t>
            </a:r>
            <a:endParaRPr lang="en-US" sz="1200" dirty="0"/>
          </a:p>
        </p:txBody>
      </p:sp>
      <p:sp>
        <p:nvSpPr>
          <p:cNvPr id="10" name="TextBox 10"/>
          <p:cNvSpPr/>
          <p:nvPr/>
        </p:nvSpPr>
        <p:spPr>
          <a:xfrm>
            <a:off x="812780" y="5245055"/>
            <a:ext cx="1333467" cy="882628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Candidatos</a:t>
            </a:r>
            <a:endParaRPr lang="en-US" sz="1700" dirty="0"/>
          </a:p>
        </p:txBody>
      </p:sp>
      <p:sp>
        <p:nvSpPr>
          <p:cNvPr id="11" name="TextBox 13"/>
          <p:cNvSpPr/>
          <p:nvPr/>
        </p:nvSpPr>
        <p:spPr>
          <a:xfrm>
            <a:off x="2603435" y="4997411"/>
            <a:ext cx="137216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Box 15"/>
          <p:cNvSpPr/>
          <p:nvPr/>
        </p:nvSpPr>
        <p:spPr>
          <a:xfrm>
            <a:off x="2603435" y="5626045"/>
            <a:ext cx="1333467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Eficiência operacional</a:t>
            </a:r>
            <a:endParaRPr lang="en-US" sz="1200" dirty="0"/>
          </a:p>
        </p:txBody>
      </p:sp>
      <p:sp>
        <p:nvSpPr>
          <p:cNvPr id="13" name="TextBox 14"/>
          <p:cNvSpPr/>
          <p:nvPr/>
        </p:nvSpPr>
        <p:spPr>
          <a:xfrm>
            <a:off x="2603435" y="5245055"/>
            <a:ext cx="1333467" cy="882628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Staff</a:t>
            </a:r>
            <a:endParaRPr lang="en-US" sz="1700" dirty="0"/>
          </a:p>
        </p:txBody>
      </p:sp>
      <p:sp>
        <p:nvSpPr>
          <p:cNvPr id="14" name="TextBox 17"/>
          <p:cNvSpPr/>
          <p:nvPr/>
        </p:nvSpPr>
        <p:spPr>
          <a:xfrm>
            <a:off x="4394090" y="4997411"/>
            <a:ext cx="137216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Box 19"/>
          <p:cNvSpPr/>
          <p:nvPr/>
        </p:nvSpPr>
        <p:spPr>
          <a:xfrm>
            <a:off x="4394090" y="5626045"/>
            <a:ext cx="1333467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Governança e auditoria</a:t>
            </a:r>
            <a:endParaRPr lang="en-US" sz="1200" dirty="0"/>
          </a:p>
        </p:txBody>
      </p:sp>
      <p:sp>
        <p:nvSpPr>
          <p:cNvPr id="16" name="TextBox 18"/>
          <p:cNvSpPr/>
          <p:nvPr/>
        </p:nvSpPr>
        <p:spPr>
          <a:xfrm>
            <a:off x="4394090" y="5245055"/>
            <a:ext cx="1953547" cy="882628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Administradores</a:t>
            </a:r>
            <a:endParaRPr lang="en-US" sz="1700" dirty="0"/>
          </a:p>
        </p:txBody>
      </p:sp>
      <p:sp>
        <p:nvSpPr>
          <p:cNvPr id="17" name="Shape 20"/>
          <p:cNvSpPr/>
          <p:nvPr/>
        </p:nvSpPr>
        <p:spPr>
          <a:xfrm>
            <a:off x="9346966" y="4516906"/>
            <a:ext cx="2031949" cy="1464730"/>
          </a:xfrm>
          <a:prstGeom prst="rect">
            <a:avLst/>
          </a:prstGeom>
          <a:noFill/>
          <a:ln/>
        </p:spPr>
      </p:sp>
      <p:pic>
        <p:nvPicPr>
          <p:cNvPr id="18" name="Picture 20" descr="__type_image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46966" y="4516906"/>
            <a:ext cx="2031949" cy="1464730"/>
          </a:xfrm>
          <a:prstGeom prst="rect">
            <a:avLst/>
          </a:prstGeom>
        </p:spPr>
      </p:pic>
      <p:sp>
        <p:nvSpPr>
          <p:cNvPr id="19" name="TextBox 21"/>
          <p:cNvSpPr/>
          <p:nvPr/>
        </p:nvSpPr>
        <p:spPr>
          <a:xfrm>
            <a:off x="9518412" y="4516906"/>
            <a:ext cx="1860503" cy="18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STACK</a:t>
            </a:r>
            <a:endParaRPr lang="en-US" sz="900" dirty="0"/>
          </a:p>
        </p:txBody>
      </p:sp>
      <p:sp>
        <p:nvSpPr>
          <p:cNvPr id="20" name="TextBox 22"/>
          <p:cNvSpPr/>
          <p:nvPr/>
        </p:nvSpPr>
        <p:spPr>
          <a:xfrm>
            <a:off x="9518412" y="4739151"/>
            <a:ext cx="1860503" cy="60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Django 5.2.4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3.13.2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PostgreSQL 15+</a:t>
            </a:r>
            <a:endParaRPr lang="en-US" sz="1100" dirty="0"/>
          </a:p>
        </p:txBody>
      </p:sp>
      <p:sp>
        <p:nvSpPr>
          <p:cNvPr id="21" name="TextBox 23"/>
          <p:cNvSpPr/>
          <p:nvPr/>
        </p:nvSpPr>
        <p:spPr>
          <a:xfrm>
            <a:off x="9518412" y="5518098"/>
            <a:ext cx="1860503" cy="501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Fase final de consolidação</a:t>
            </a:r>
            <a:endParaRPr lang="en-US" sz="9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 testes de estresse · maio de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TextBox 3"/>
          <p:cNvSpPr/>
          <p:nvPr/>
        </p:nvSpPr>
        <p:spPr>
          <a:xfrm>
            <a:off x="812780" y="920813"/>
            <a:ext cx="5206870" cy="18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5C5C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QUE EXISTE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812780" y="1930437"/>
            <a:ext cx="520687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F4F7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plataforma organiza inscrição, seleção, matrícula e acompanhamento de cursos municipais.</a:t>
            </a:r>
            <a:endParaRPr lang="en-US" sz="800" dirty="0"/>
          </a:p>
        </p:txBody>
      </p:sp>
      <p:sp>
        <p:nvSpPr>
          <p:cNvPr id="5" name="TextBox 4"/>
          <p:cNvSpPr/>
          <p:nvPr/>
        </p:nvSpPr>
        <p:spPr>
          <a:xfrm>
            <a:off x="812780" y="1225605"/>
            <a:ext cx="5206870" cy="1835104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F4F7F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Substituir o processo manual por um ciclo rastreável.</a:t>
            </a:r>
            <a:endParaRPr lang="en-US" sz="2600" dirty="0"/>
          </a:p>
        </p:txBody>
      </p:sp>
      <p:sp>
        <p:nvSpPr>
          <p:cNvPr id="6" name="Shape 6"/>
          <p:cNvSpPr/>
          <p:nvPr/>
        </p:nvSpPr>
        <p:spPr>
          <a:xfrm>
            <a:off x="812780" y="4394176"/>
            <a:ext cx="10566136" cy="1130272"/>
          </a:xfrm>
          <a:prstGeom prst="rect">
            <a:avLst/>
          </a:prstGeom>
          <a:noFill/>
          <a:ln/>
        </p:spPr>
      </p:sp>
      <p:pic>
        <p:nvPicPr>
          <p:cNvPr id="7" name="Picture 6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780" y="4394176"/>
            <a:ext cx="10566136" cy="1130272"/>
          </a:xfrm>
          <a:prstGeom prst="rect">
            <a:avLst/>
          </a:prstGeom>
        </p:spPr>
      </p:pic>
      <p:sp>
        <p:nvSpPr>
          <p:cNvPr id="8" name="Shape 7"/>
          <p:cNvSpPr/>
          <p:nvPr/>
        </p:nvSpPr>
        <p:spPr>
          <a:xfrm>
            <a:off x="812780" y="4400526"/>
            <a:ext cx="2641534" cy="1117572"/>
          </a:xfrm>
          <a:prstGeom prst="rect">
            <a:avLst/>
          </a:prstGeom>
          <a:noFill/>
          <a:ln/>
        </p:spPr>
      </p:sp>
      <p:pic>
        <p:nvPicPr>
          <p:cNvPr id="9" name="Picture 7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780" y="4400526"/>
            <a:ext cx="2641534" cy="1117572"/>
          </a:xfrm>
          <a:prstGeom prst="rect">
            <a:avLst/>
          </a:prstGeom>
        </p:spPr>
      </p:pic>
      <p:sp>
        <p:nvSpPr>
          <p:cNvPr id="10" name="TextBox 8"/>
          <p:cNvSpPr/>
          <p:nvPr/>
        </p:nvSpPr>
        <p:spPr>
          <a:xfrm>
            <a:off x="971526" y="4591021"/>
            <a:ext cx="1144353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2B13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80%</a:t>
            </a:r>
            <a:endParaRPr lang="en-US" sz="1700" dirty="0"/>
          </a:p>
        </p:txBody>
      </p:sp>
      <p:sp>
        <p:nvSpPr>
          <p:cNvPr id="11" name="TextBox 9"/>
          <p:cNvSpPr/>
          <p:nvPr/>
        </p:nvSpPr>
        <p:spPr>
          <a:xfrm>
            <a:off x="971526" y="4933912"/>
            <a:ext cx="2317692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redução no tempo de processamento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54314" y="4400526"/>
            <a:ext cx="2641534" cy="1117572"/>
          </a:xfrm>
          <a:prstGeom prst="rect">
            <a:avLst/>
          </a:prstGeom>
          <a:noFill/>
          <a:ln/>
        </p:spPr>
      </p:sp>
      <p:pic>
        <p:nvPicPr>
          <p:cNvPr id="13" name="Picture 10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54314" y="4400526"/>
            <a:ext cx="2641534" cy="1117572"/>
          </a:xfrm>
          <a:prstGeom prst="rect">
            <a:avLst/>
          </a:prstGeom>
        </p:spPr>
      </p:pic>
      <p:sp>
        <p:nvSpPr>
          <p:cNvPr id="14" name="TextBox 11"/>
          <p:cNvSpPr/>
          <p:nvPr/>
        </p:nvSpPr>
        <p:spPr>
          <a:xfrm>
            <a:off x="3613060" y="4591021"/>
            <a:ext cx="1947768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2B13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Tempo real</a:t>
            </a:r>
            <a:endParaRPr lang="en-US" sz="1700" dirty="0"/>
          </a:p>
        </p:txBody>
      </p:sp>
      <p:sp>
        <p:nvSpPr>
          <p:cNvPr id="15" name="TextBox 12"/>
          <p:cNvSpPr/>
          <p:nvPr/>
        </p:nvSpPr>
        <p:spPr>
          <a:xfrm>
            <a:off x="3613060" y="4933912"/>
            <a:ext cx="2317692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acompanhamento transparente para candidatos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95848" y="4400526"/>
            <a:ext cx="2641534" cy="1117572"/>
          </a:xfrm>
          <a:prstGeom prst="rect">
            <a:avLst/>
          </a:prstGeom>
          <a:noFill/>
          <a:ln/>
        </p:spPr>
      </p:sp>
      <p:pic>
        <p:nvPicPr>
          <p:cNvPr id="17" name="Picture 13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5848" y="4400526"/>
            <a:ext cx="2641534" cy="1117572"/>
          </a:xfrm>
          <a:prstGeom prst="rect">
            <a:avLst/>
          </a:prstGeom>
        </p:spPr>
      </p:pic>
      <p:sp>
        <p:nvSpPr>
          <p:cNvPr id="18" name="TextBox 14"/>
          <p:cNvSpPr/>
          <p:nvPr/>
        </p:nvSpPr>
        <p:spPr>
          <a:xfrm>
            <a:off x="6254594" y="4591021"/>
            <a:ext cx="1475276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2B13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Completa</a:t>
            </a:r>
            <a:endParaRPr lang="en-US" sz="1700" dirty="0"/>
          </a:p>
        </p:txBody>
      </p:sp>
      <p:sp>
        <p:nvSpPr>
          <p:cNvPr id="19" name="TextBox 15"/>
          <p:cNvSpPr/>
          <p:nvPr/>
        </p:nvSpPr>
        <p:spPr>
          <a:xfrm>
            <a:off x="6254594" y="4933912"/>
            <a:ext cx="2317692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trilha de auditoria: quem, o quê, quando</a:t>
            </a:r>
            <a:endParaRPr lang="en-US" sz="1200" dirty="0"/>
          </a:p>
        </p:txBody>
      </p:sp>
      <p:sp>
        <p:nvSpPr>
          <p:cNvPr id="20" name="TextBox 17"/>
          <p:cNvSpPr/>
          <p:nvPr/>
        </p:nvSpPr>
        <p:spPr>
          <a:xfrm>
            <a:off x="8896127" y="4591021"/>
            <a:ext cx="1864021" cy="260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2B13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6–12 meses</a:t>
            </a:r>
            <a:endParaRPr lang="en-US" sz="1700" dirty="0"/>
          </a:p>
        </p:txBody>
      </p:sp>
      <p:sp>
        <p:nvSpPr>
          <p:cNvPr id="21" name="TextBox 18"/>
          <p:cNvSpPr/>
          <p:nvPr/>
        </p:nvSpPr>
        <p:spPr>
          <a:xfrm>
            <a:off x="8896128" y="4933912"/>
            <a:ext cx="2324042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ROI estimado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092973" y="1016060"/>
            <a:ext cx="2285943" cy="1352516"/>
          </a:xfrm>
          <a:prstGeom prst="rect">
            <a:avLst/>
          </a:prstGeom>
          <a:noFill/>
          <a:ln/>
        </p:spPr>
      </p:sp>
      <p:pic>
        <p:nvPicPr>
          <p:cNvPr id="23" name="Picture 19" descr="__type_image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92973" y="1016060"/>
            <a:ext cx="2285943" cy="1352516"/>
          </a:xfrm>
          <a:prstGeom prst="rect">
            <a:avLst/>
          </a:prstGeom>
        </p:spPr>
      </p:pic>
      <p:sp>
        <p:nvSpPr>
          <p:cNvPr id="24" name="TextBox 21"/>
          <p:cNvSpPr/>
          <p:nvPr/>
        </p:nvSpPr>
        <p:spPr>
          <a:xfrm>
            <a:off x="9251719" y="1752642"/>
            <a:ext cx="2127197" cy="66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B8C8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LGPD nativa · CPF e NIS protegidos com criptografia Fernet</a:t>
            </a:r>
            <a:endParaRPr lang="en-US" sz="1200" dirty="0"/>
          </a:p>
        </p:txBody>
      </p:sp>
      <p:sp>
        <p:nvSpPr>
          <p:cNvPr id="25" name="TextBox 20"/>
          <p:cNvSpPr/>
          <p:nvPr/>
        </p:nvSpPr>
        <p:spPr>
          <a:xfrm>
            <a:off x="9251719" y="1016060"/>
            <a:ext cx="2127197" cy="1689058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F4F7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Conformidade por padrão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Box 3"/>
          <p:cNvSpPr/>
          <p:nvPr/>
        </p:nvSpPr>
        <p:spPr>
          <a:xfrm>
            <a:off x="812780" y="698568"/>
            <a:ext cx="5033142" cy="18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ARQUITETURA FUNCIONAL</a:t>
            </a:r>
            <a:endParaRPr lang="en-US" sz="900" dirty="0"/>
          </a:p>
        </p:txBody>
      </p:sp>
      <p:sp>
        <p:nvSpPr>
          <p:cNvPr id="4" name="TextBox 4"/>
          <p:cNvSpPr/>
          <p:nvPr/>
        </p:nvSpPr>
        <p:spPr>
          <a:xfrm>
            <a:off x="812779" y="958912"/>
            <a:ext cx="6321667" cy="1308067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2600" b="1" dirty="0">
                <a:solidFill>
                  <a:srgbClr val="102A4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Oito apps. Um fluxo de negócio.</a:t>
            </a:r>
            <a:endParaRPr lang="en-US" sz="2600" dirty="0"/>
          </a:p>
        </p:txBody>
      </p:sp>
      <p:sp>
        <p:nvSpPr>
          <p:cNvPr id="5" name="Shape 6"/>
          <p:cNvSpPr/>
          <p:nvPr/>
        </p:nvSpPr>
        <p:spPr>
          <a:xfrm>
            <a:off x="812780" y="2000286"/>
            <a:ext cx="2555811" cy="920727"/>
          </a:xfrm>
          <a:prstGeom prst="rect">
            <a:avLst/>
          </a:prstGeom>
          <a:solidFill>
            <a:srgbClr val="E8EFF3"/>
          </a:solidFill>
          <a:ln/>
        </p:spPr>
      </p:sp>
      <p:pic>
        <p:nvPicPr>
          <p:cNvPr id="6" name="Picture 6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780" y="2000286"/>
            <a:ext cx="2555811" cy="920727"/>
          </a:xfrm>
          <a:prstGeom prst="rect">
            <a:avLst/>
          </a:prstGeom>
        </p:spPr>
      </p:pic>
      <p:sp>
        <p:nvSpPr>
          <p:cNvPr id="7" name="TextBox 7"/>
          <p:cNvSpPr/>
          <p:nvPr/>
        </p:nvSpPr>
        <p:spPr>
          <a:xfrm>
            <a:off x="952476" y="2139982"/>
            <a:ext cx="137216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Box 9"/>
          <p:cNvSpPr/>
          <p:nvPr/>
        </p:nvSpPr>
        <p:spPr>
          <a:xfrm>
            <a:off x="952476" y="2774966"/>
            <a:ext cx="2276418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Autenticação staff</a:t>
            </a:r>
            <a:endParaRPr lang="en-US" sz="1200" dirty="0"/>
          </a:p>
        </p:txBody>
      </p:sp>
      <p:sp>
        <p:nvSpPr>
          <p:cNvPr id="9" name="TextBox 8"/>
          <p:cNvSpPr/>
          <p:nvPr/>
        </p:nvSpPr>
        <p:spPr>
          <a:xfrm>
            <a:off x="952476" y="2393976"/>
            <a:ext cx="2276418" cy="882628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accounts</a:t>
            </a:r>
            <a:endParaRPr lang="en-US" sz="1700" dirty="0"/>
          </a:p>
        </p:txBody>
      </p:sp>
      <p:sp>
        <p:nvSpPr>
          <p:cNvPr id="10" name="Shape 10"/>
          <p:cNvSpPr/>
          <p:nvPr/>
        </p:nvSpPr>
        <p:spPr>
          <a:xfrm>
            <a:off x="3482888" y="2000286"/>
            <a:ext cx="2555811" cy="920727"/>
          </a:xfrm>
          <a:prstGeom prst="rect">
            <a:avLst/>
          </a:prstGeom>
          <a:solidFill>
            <a:srgbClr val="E8EFF3"/>
          </a:solidFill>
          <a:ln/>
        </p:spPr>
      </p:sp>
      <p:pic>
        <p:nvPicPr>
          <p:cNvPr id="11" name="Picture 10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2888" y="2000286"/>
            <a:ext cx="2555811" cy="920727"/>
          </a:xfrm>
          <a:prstGeom prst="rect">
            <a:avLst/>
          </a:prstGeom>
        </p:spPr>
      </p:pic>
      <p:sp>
        <p:nvSpPr>
          <p:cNvPr id="12" name="TextBox 11"/>
          <p:cNvSpPr/>
          <p:nvPr/>
        </p:nvSpPr>
        <p:spPr>
          <a:xfrm>
            <a:off x="3622584" y="2139982"/>
            <a:ext cx="137216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Box 13"/>
          <p:cNvSpPr/>
          <p:nvPr/>
        </p:nvSpPr>
        <p:spPr>
          <a:xfrm>
            <a:off x="3622584" y="2774966"/>
            <a:ext cx="2276418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Cadastro candidato</a:t>
            </a:r>
            <a:endParaRPr lang="en-US" sz="1200" dirty="0"/>
          </a:p>
        </p:txBody>
      </p:sp>
      <p:sp>
        <p:nvSpPr>
          <p:cNvPr id="14" name="TextBox 12"/>
          <p:cNvSpPr/>
          <p:nvPr/>
        </p:nvSpPr>
        <p:spPr>
          <a:xfrm>
            <a:off x="3622584" y="2393976"/>
            <a:ext cx="2276418" cy="882628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interessados</a:t>
            </a:r>
            <a:endParaRPr lang="en-US" sz="1700" dirty="0"/>
          </a:p>
        </p:txBody>
      </p:sp>
      <p:sp>
        <p:nvSpPr>
          <p:cNvPr id="15" name="Shape 14"/>
          <p:cNvSpPr/>
          <p:nvPr/>
        </p:nvSpPr>
        <p:spPr>
          <a:xfrm>
            <a:off x="6152996" y="2000286"/>
            <a:ext cx="2555811" cy="920727"/>
          </a:xfrm>
          <a:prstGeom prst="rect">
            <a:avLst/>
          </a:prstGeom>
          <a:solidFill>
            <a:srgbClr val="E8EFF3"/>
          </a:solidFill>
          <a:ln/>
        </p:spPr>
      </p:sp>
      <p:pic>
        <p:nvPicPr>
          <p:cNvPr id="16" name="Picture 14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2996" y="2000286"/>
            <a:ext cx="2555811" cy="920727"/>
          </a:xfrm>
          <a:prstGeom prst="rect">
            <a:avLst/>
          </a:prstGeom>
        </p:spPr>
      </p:pic>
      <p:sp>
        <p:nvSpPr>
          <p:cNvPr id="17" name="TextBox 15"/>
          <p:cNvSpPr/>
          <p:nvPr/>
        </p:nvSpPr>
        <p:spPr>
          <a:xfrm>
            <a:off x="6292693" y="2139982"/>
            <a:ext cx="137216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Box 17"/>
          <p:cNvSpPr/>
          <p:nvPr/>
        </p:nvSpPr>
        <p:spPr>
          <a:xfrm>
            <a:off x="6292693" y="2774966"/>
            <a:ext cx="2276418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Cursos, editais, vagas</a:t>
            </a:r>
            <a:endParaRPr lang="en-US" sz="1200" dirty="0"/>
          </a:p>
        </p:txBody>
      </p:sp>
      <p:sp>
        <p:nvSpPr>
          <p:cNvPr id="19" name="TextBox 16"/>
          <p:cNvSpPr/>
          <p:nvPr/>
        </p:nvSpPr>
        <p:spPr>
          <a:xfrm>
            <a:off x="6292693" y="2393976"/>
            <a:ext cx="2276418" cy="882628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eventos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823104" y="2000286"/>
            <a:ext cx="2555811" cy="920727"/>
          </a:xfrm>
          <a:prstGeom prst="rect">
            <a:avLst/>
          </a:prstGeom>
          <a:solidFill>
            <a:srgbClr val="FFF7E5"/>
          </a:solidFill>
          <a:ln/>
        </p:spPr>
      </p:sp>
      <p:pic>
        <p:nvPicPr>
          <p:cNvPr id="21" name="Picture 18" descr="__type_image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23104" y="2000286"/>
            <a:ext cx="2555811" cy="920727"/>
          </a:xfrm>
          <a:prstGeom prst="rect">
            <a:avLst/>
          </a:prstGeom>
        </p:spPr>
      </p:pic>
      <p:sp>
        <p:nvSpPr>
          <p:cNvPr id="22" name="TextBox 19"/>
          <p:cNvSpPr/>
          <p:nvPr/>
        </p:nvSpPr>
        <p:spPr>
          <a:xfrm>
            <a:off x="8962801" y="2139982"/>
            <a:ext cx="137216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Box 21"/>
          <p:cNvSpPr/>
          <p:nvPr/>
        </p:nvSpPr>
        <p:spPr>
          <a:xfrm>
            <a:off x="8962801" y="2774966"/>
            <a:ext cx="2276418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ClassificadorService</a:t>
            </a:r>
            <a:endParaRPr lang="en-US" sz="1200" dirty="0"/>
          </a:p>
        </p:txBody>
      </p:sp>
      <p:sp>
        <p:nvSpPr>
          <p:cNvPr id="24" name="TextBox 20"/>
          <p:cNvSpPr/>
          <p:nvPr/>
        </p:nvSpPr>
        <p:spPr>
          <a:xfrm>
            <a:off x="8962801" y="2393976"/>
            <a:ext cx="2276418" cy="882628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selecao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812780" y="3035310"/>
            <a:ext cx="2555811" cy="920727"/>
          </a:xfrm>
          <a:prstGeom prst="rect">
            <a:avLst/>
          </a:prstGeom>
          <a:solidFill>
            <a:srgbClr val="E8EFF3"/>
          </a:solidFill>
          <a:ln/>
        </p:spPr>
      </p:sp>
      <p:pic>
        <p:nvPicPr>
          <p:cNvPr id="26" name="Picture 22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2780" y="3035310"/>
            <a:ext cx="2555811" cy="920727"/>
          </a:xfrm>
          <a:prstGeom prst="rect">
            <a:avLst/>
          </a:prstGeom>
        </p:spPr>
      </p:pic>
      <p:sp>
        <p:nvSpPr>
          <p:cNvPr id="27" name="TextBox 23"/>
          <p:cNvSpPr/>
          <p:nvPr/>
        </p:nvSpPr>
        <p:spPr>
          <a:xfrm>
            <a:off x="952476" y="3175006"/>
            <a:ext cx="137216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Box 25"/>
          <p:cNvSpPr/>
          <p:nvPr/>
        </p:nvSpPr>
        <p:spPr>
          <a:xfrm>
            <a:off x="952476" y="3809990"/>
            <a:ext cx="2276418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Matrícula e notas</a:t>
            </a:r>
            <a:endParaRPr lang="en-US" sz="1200" dirty="0"/>
          </a:p>
        </p:txBody>
      </p:sp>
      <p:sp>
        <p:nvSpPr>
          <p:cNvPr id="29" name="TextBox 24"/>
          <p:cNvSpPr/>
          <p:nvPr/>
        </p:nvSpPr>
        <p:spPr>
          <a:xfrm>
            <a:off x="952476" y="3429000"/>
            <a:ext cx="2276418" cy="882628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academico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3482888" y="3035310"/>
            <a:ext cx="2555811" cy="920727"/>
          </a:xfrm>
          <a:prstGeom prst="rect">
            <a:avLst/>
          </a:prstGeom>
          <a:solidFill>
            <a:srgbClr val="E8EFF3"/>
          </a:solidFill>
          <a:ln/>
        </p:spPr>
      </p:sp>
      <p:pic>
        <p:nvPicPr>
          <p:cNvPr id="31" name="Picture 26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82888" y="3035310"/>
            <a:ext cx="2555811" cy="920727"/>
          </a:xfrm>
          <a:prstGeom prst="rect">
            <a:avLst/>
          </a:prstGeom>
        </p:spPr>
      </p:pic>
      <p:sp>
        <p:nvSpPr>
          <p:cNvPr id="32" name="TextBox 27"/>
          <p:cNvSpPr/>
          <p:nvPr/>
        </p:nvSpPr>
        <p:spPr>
          <a:xfrm>
            <a:off x="3622584" y="3175006"/>
            <a:ext cx="137216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Box 29"/>
          <p:cNvSpPr/>
          <p:nvPr/>
        </p:nvSpPr>
        <p:spPr>
          <a:xfrm>
            <a:off x="3622584" y="3809990"/>
            <a:ext cx="2276418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Interface pública</a:t>
            </a:r>
            <a:endParaRPr lang="en-US" sz="1200" dirty="0"/>
          </a:p>
        </p:txBody>
      </p:sp>
      <p:sp>
        <p:nvSpPr>
          <p:cNvPr id="34" name="TextBox 28"/>
          <p:cNvSpPr/>
          <p:nvPr/>
        </p:nvSpPr>
        <p:spPr>
          <a:xfrm>
            <a:off x="3622584" y="3429000"/>
            <a:ext cx="2276418" cy="882628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portal</a:t>
            </a:r>
            <a:endParaRPr lang="en-US" sz="1700" dirty="0"/>
          </a:p>
        </p:txBody>
      </p:sp>
      <p:sp>
        <p:nvSpPr>
          <p:cNvPr id="35" name="Shape 30"/>
          <p:cNvSpPr/>
          <p:nvPr/>
        </p:nvSpPr>
        <p:spPr>
          <a:xfrm>
            <a:off x="6152996" y="3035310"/>
            <a:ext cx="2555811" cy="920727"/>
          </a:xfrm>
          <a:prstGeom prst="rect">
            <a:avLst/>
          </a:prstGeom>
          <a:solidFill>
            <a:srgbClr val="E8EFF3"/>
          </a:solidFill>
          <a:ln/>
        </p:spPr>
      </p:sp>
      <p:pic>
        <p:nvPicPr>
          <p:cNvPr id="36" name="Picture 30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52996" y="3035310"/>
            <a:ext cx="2555811" cy="920727"/>
          </a:xfrm>
          <a:prstGeom prst="rect">
            <a:avLst/>
          </a:prstGeom>
        </p:spPr>
      </p:pic>
      <p:sp>
        <p:nvSpPr>
          <p:cNvPr id="37" name="TextBox 31"/>
          <p:cNvSpPr/>
          <p:nvPr/>
        </p:nvSpPr>
        <p:spPr>
          <a:xfrm>
            <a:off x="6292693" y="3175006"/>
            <a:ext cx="137216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  <p:sp>
        <p:nvSpPr>
          <p:cNvPr id="38" name="TextBox 33"/>
          <p:cNvSpPr/>
          <p:nvPr/>
        </p:nvSpPr>
        <p:spPr>
          <a:xfrm>
            <a:off x="6292693" y="3809990"/>
            <a:ext cx="2276418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Indicadores</a:t>
            </a:r>
            <a:endParaRPr lang="en-US" sz="1200" dirty="0"/>
          </a:p>
        </p:txBody>
      </p:sp>
      <p:sp>
        <p:nvSpPr>
          <p:cNvPr id="39" name="TextBox 32"/>
          <p:cNvSpPr/>
          <p:nvPr/>
        </p:nvSpPr>
        <p:spPr>
          <a:xfrm>
            <a:off x="6292693" y="3429000"/>
            <a:ext cx="2276418" cy="882628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40" name="Shape 34"/>
          <p:cNvSpPr/>
          <p:nvPr/>
        </p:nvSpPr>
        <p:spPr>
          <a:xfrm>
            <a:off x="8823104" y="3035310"/>
            <a:ext cx="2555811" cy="920727"/>
          </a:xfrm>
          <a:prstGeom prst="rect">
            <a:avLst/>
          </a:prstGeom>
          <a:solidFill>
            <a:srgbClr val="E8EFF3"/>
          </a:solidFill>
          <a:ln/>
        </p:spPr>
      </p:sp>
      <p:pic>
        <p:nvPicPr>
          <p:cNvPr id="41" name="Picture 34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23104" y="3035310"/>
            <a:ext cx="2555811" cy="920727"/>
          </a:xfrm>
          <a:prstGeom prst="rect">
            <a:avLst/>
          </a:prstGeom>
        </p:spPr>
      </p:pic>
      <p:sp>
        <p:nvSpPr>
          <p:cNvPr id="42" name="TextBox 35"/>
          <p:cNvSpPr/>
          <p:nvPr/>
        </p:nvSpPr>
        <p:spPr>
          <a:xfrm>
            <a:off x="8962801" y="3175006"/>
            <a:ext cx="137216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  <p:sp>
        <p:nvSpPr>
          <p:cNvPr id="43" name="TextBox 37"/>
          <p:cNvSpPr/>
          <p:nvPr/>
        </p:nvSpPr>
        <p:spPr>
          <a:xfrm>
            <a:off x="8962801" y="3809990"/>
            <a:ext cx="2276418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Utilitários</a:t>
            </a:r>
            <a:endParaRPr lang="en-US" sz="1200" dirty="0"/>
          </a:p>
        </p:txBody>
      </p:sp>
      <p:sp>
        <p:nvSpPr>
          <p:cNvPr id="44" name="TextBox 36"/>
          <p:cNvSpPr/>
          <p:nvPr/>
        </p:nvSpPr>
        <p:spPr>
          <a:xfrm>
            <a:off x="8962801" y="3429000"/>
            <a:ext cx="2276418" cy="882628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scripts_admin</a:t>
            </a:r>
            <a:endParaRPr lang="en-US" sz="1700" dirty="0"/>
          </a:p>
        </p:txBody>
      </p:sp>
      <p:sp>
        <p:nvSpPr>
          <p:cNvPr id="45" name="Shape 38"/>
          <p:cNvSpPr/>
          <p:nvPr/>
        </p:nvSpPr>
        <p:spPr>
          <a:xfrm>
            <a:off x="812780" y="5422850"/>
            <a:ext cx="10566136" cy="514337"/>
          </a:xfrm>
          <a:prstGeom prst="rect">
            <a:avLst/>
          </a:prstGeom>
          <a:noFill/>
          <a:ln/>
        </p:spPr>
      </p:sp>
      <p:pic>
        <p:nvPicPr>
          <p:cNvPr id="46" name="Picture 38" descr="__type_image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2780" y="5422850"/>
            <a:ext cx="10566136" cy="514337"/>
          </a:xfrm>
          <a:prstGeom prst="rect">
            <a:avLst/>
          </a:prstGeom>
        </p:spPr>
      </p:pic>
      <p:sp>
        <p:nvSpPr>
          <p:cNvPr id="47" name="TextBox 39"/>
          <p:cNvSpPr/>
          <p:nvPr/>
        </p:nvSpPr>
        <p:spPr>
          <a:xfrm>
            <a:off x="812780" y="5692718"/>
            <a:ext cx="984122" cy="18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Cadastro</a:t>
            </a:r>
            <a:endParaRPr lang="en-US" sz="1100" dirty="0"/>
          </a:p>
        </p:txBody>
      </p:sp>
      <p:sp>
        <p:nvSpPr>
          <p:cNvPr id="49" name="TextBox 41"/>
          <p:cNvSpPr/>
          <p:nvPr/>
        </p:nvSpPr>
        <p:spPr>
          <a:xfrm>
            <a:off x="2590735" y="5692718"/>
            <a:ext cx="892153" cy="18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Inscrição</a:t>
            </a:r>
            <a:endParaRPr lang="en-US" sz="1100" dirty="0"/>
          </a:p>
        </p:txBody>
      </p:sp>
      <p:sp>
        <p:nvSpPr>
          <p:cNvPr id="50" name="TextBox 42"/>
          <p:cNvSpPr/>
          <p:nvPr/>
        </p:nvSpPr>
        <p:spPr>
          <a:xfrm>
            <a:off x="3797205" y="5651444"/>
            <a:ext cx="203195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51" name="TextBox 43"/>
          <p:cNvSpPr/>
          <p:nvPr/>
        </p:nvSpPr>
        <p:spPr>
          <a:xfrm>
            <a:off x="4452528" y="5692718"/>
            <a:ext cx="1393393" cy="225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Classificação</a:t>
            </a:r>
            <a:endParaRPr lang="en-US" sz="1100" dirty="0"/>
          </a:p>
        </p:txBody>
      </p:sp>
      <p:sp>
        <p:nvSpPr>
          <p:cNvPr id="53" name="TextBox 45"/>
          <p:cNvSpPr/>
          <p:nvPr/>
        </p:nvSpPr>
        <p:spPr>
          <a:xfrm>
            <a:off x="6649474" y="5692718"/>
            <a:ext cx="1069763" cy="18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Matrícula</a:t>
            </a:r>
            <a:endParaRPr lang="en-US" sz="1100" dirty="0"/>
          </a:p>
        </p:txBody>
      </p:sp>
      <p:sp>
        <p:nvSpPr>
          <p:cNvPr id="55" name="TextBox 47"/>
          <p:cNvSpPr/>
          <p:nvPr/>
        </p:nvSpPr>
        <p:spPr>
          <a:xfrm>
            <a:off x="8511268" y="5692718"/>
            <a:ext cx="994239" cy="18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Avaliação</a:t>
            </a:r>
            <a:endParaRPr lang="en-US" sz="1100" dirty="0"/>
          </a:p>
        </p:txBody>
      </p:sp>
      <p:sp>
        <p:nvSpPr>
          <p:cNvPr id="57" name="TextBox 49"/>
          <p:cNvSpPr/>
          <p:nvPr/>
        </p:nvSpPr>
        <p:spPr>
          <a:xfrm>
            <a:off x="10373061" y="5692718"/>
            <a:ext cx="1269590" cy="18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Certificação</a:t>
            </a:r>
            <a:endParaRPr lang="en-US" sz="1100" dirty="0"/>
          </a:p>
        </p:txBody>
      </p:sp>
      <p:sp>
        <p:nvSpPr>
          <p:cNvPr id="58" name="Seta para a direita 57"/>
          <p:cNvSpPr/>
          <p:nvPr/>
        </p:nvSpPr>
        <p:spPr>
          <a:xfrm>
            <a:off x="542260" y="5422850"/>
            <a:ext cx="1393152" cy="701503"/>
          </a:xfrm>
          <a:prstGeom prst="rightArrow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Seta para a direita 58"/>
          <p:cNvSpPr/>
          <p:nvPr/>
        </p:nvSpPr>
        <p:spPr>
          <a:xfrm>
            <a:off x="2366648" y="5422850"/>
            <a:ext cx="1393152" cy="701503"/>
          </a:xfrm>
          <a:prstGeom prst="rightArrow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Seta para a direita 59"/>
          <p:cNvSpPr/>
          <p:nvPr/>
        </p:nvSpPr>
        <p:spPr>
          <a:xfrm>
            <a:off x="4339148" y="5422850"/>
            <a:ext cx="1393152" cy="701503"/>
          </a:xfrm>
          <a:prstGeom prst="rightArrow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Seta para a direita 60"/>
          <p:cNvSpPr/>
          <p:nvPr/>
        </p:nvSpPr>
        <p:spPr>
          <a:xfrm>
            <a:off x="6326085" y="5422850"/>
            <a:ext cx="1393152" cy="701503"/>
          </a:xfrm>
          <a:prstGeom prst="rightArrow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Seta para a direita 61"/>
          <p:cNvSpPr/>
          <p:nvPr/>
        </p:nvSpPr>
        <p:spPr>
          <a:xfrm>
            <a:off x="8234326" y="5422850"/>
            <a:ext cx="1393152" cy="701503"/>
          </a:xfrm>
          <a:prstGeom prst="rightArrow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tângulo 62"/>
          <p:cNvSpPr/>
          <p:nvPr/>
        </p:nvSpPr>
        <p:spPr>
          <a:xfrm>
            <a:off x="10207256" y="5523848"/>
            <a:ext cx="1435395" cy="472909"/>
          </a:xfrm>
          <a:prstGeom prst="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pagin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606" y="0"/>
            <a:ext cx="5698787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TextBox 3"/>
          <p:cNvSpPr/>
          <p:nvPr/>
        </p:nvSpPr>
        <p:spPr>
          <a:xfrm>
            <a:off x="812780" y="635070"/>
            <a:ext cx="5881044" cy="18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5C5C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COMPONENTES DAS FIGURAS</a:t>
            </a:r>
            <a:endParaRPr lang="en-US" sz="900" dirty="0"/>
          </a:p>
        </p:txBody>
      </p:sp>
      <p:sp>
        <p:nvSpPr>
          <p:cNvPr id="4" name="TextBox 4"/>
          <p:cNvSpPr/>
          <p:nvPr/>
        </p:nvSpPr>
        <p:spPr>
          <a:xfrm>
            <a:off x="812780" y="895413"/>
            <a:ext cx="7865766" cy="1308067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2600" b="1" dirty="0">
                <a:solidFill>
                  <a:srgbClr val="F4F7F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Cada entidade tem seu próprio ciclo.</a:t>
            </a:r>
            <a:endParaRPr lang="en-US" sz="2600" dirty="0"/>
          </a:p>
        </p:txBody>
      </p:sp>
      <p:sp>
        <p:nvSpPr>
          <p:cNvPr id="5" name="Shape 6"/>
          <p:cNvSpPr/>
          <p:nvPr/>
        </p:nvSpPr>
        <p:spPr>
          <a:xfrm>
            <a:off x="812780" y="1778041"/>
            <a:ext cx="3780438" cy="3479713"/>
          </a:xfrm>
          <a:prstGeom prst="rect">
            <a:avLst/>
          </a:prstGeom>
          <a:solidFill>
            <a:srgbClr val="173A55"/>
          </a:solidFill>
          <a:ln/>
        </p:spPr>
      </p:sp>
      <p:pic>
        <p:nvPicPr>
          <p:cNvPr id="6" name="Picture 6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780" y="1778041"/>
            <a:ext cx="3780438" cy="3479713"/>
          </a:xfrm>
          <a:prstGeom prst="rect">
            <a:avLst/>
          </a:prstGeom>
        </p:spPr>
      </p:pic>
      <p:pic>
        <p:nvPicPr>
          <p:cNvPr id="7" name="Picture 8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176" y="2336827"/>
            <a:ext cx="3475645" cy="387340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965176" y="2336827"/>
            <a:ext cx="3475645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Planejamento</a:t>
            </a:r>
            <a:endParaRPr lang="en-US" sz="1200" dirty="0"/>
          </a:p>
        </p:txBody>
      </p:sp>
      <p:pic>
        <p:nvPicPr>
          <p:cNvPr id="9" name="Picture 9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5176" y="2686069"/>
            <a:ext cx="3475645" cy="387340"/>
          </a:xfrm>
          <a:prstGeom prst="rect">
            <a:avLst/>
          </a:prstGeom>
        </p:spPr>
      </p:pic>
      <p:sp>
        <p:nvSpPr>
          <p:cNvPr id="10" name="TextBox 9"/>
          <p:cNvSpPr/>
          <p:nvPr/>
        </p:nvSpPr>
        <p:spPr>
          <a:xfrm>
            <a:off x="965176" y="2686069"/>
            <a:ext cx="3475645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Inscrições Abertas</a:t>
            </a:r>
            <a:endParaRPr lang="en-US" sz="1200" dirty="0"/>
          </a:p>
        </p:txBody>
      </p:sp>
      <p:pic>
        <p:nvPicPr>
          <p:cNvPr id="11" name="Picture 10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176" y="3035310"/>
            <a:ext cx="3475645" cy="387340"/>
          </a:xfrm>
          <a:prstGeom prst="rect">
            <a:avLst/>
          </a:prstGeom>
        </p:spPr>
      </p:pic>
      <p:sp>
        <p:nvSpPr>
          <p:cNvPr id="12" name="TextBox 10"/>
          <p:cNvSpPr/>
          <p:nvPr/>
        </p:nvSpPr>
        <p:spPr>
          <a:xfrm>
            <a:off x="965176" y="3035310"/>
            <a:ext cx="3475645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Inscrições Encerradas</a:t>
            </a:r>
            <a:endParaRPr lang="en-US" sz="1200" dirty="0"/>
          </a:p>
        </p:txBody>
      </p:sp>
      <p:pic>
        <p:nvPicPr>
          <p:cNvPr id="13" name="Picture 11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176" y="3384551"/>
            <a:ext cx="3475645" cy="387340"/>
          </a:xfrm>
          <a:prstGeom prst="rect">
            <a:avLst/>
          </a:prstGeom>
        </p:spPr>
      </p:pic>
      <p:sp>
        <p:nvSpPr>
          <p:cNvPr id="14" name="TextBox 11"/>
          <p:cNvSpPr/>
          <p:nvPr/>
        </p:nvSpPr>
        <p:spPr>
          <a:xfrm>
            <a:off x="965176" y="3384551"/>
            <a:ext cx="3475645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 Classificação</a:t>
            </a:r>
            <a:endParaRPr lang="en-US" sz="1200" dirty="0"/>
          </a:p>
        </p:txBody>
      </p:sp>
      <p:pic>
        <p:nvPicPr>
          <p:cNvPr id="15" name="Picture 12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5176" y="3733792"/>
            <a:ext cx="3475645" cy="387340"/>
          </a:xfrm>
          <a:prstGeom prst="rect">
            <a:avLst/>
          </a:prstGeom>
        </p:spPr>
      </p:pic>
      <p:sp>
        <p:nvSpPr>
          <p:cNvPr id="16" name="TextBox 12"/>
          <p:cNvSpPr/>
          <p:nvPr/>
        </p:nvSpPr>
        <p:spPr>
          <a:xfrm>
            <a:off x="965176" y="3733792"/>
            <a:ext cx="3475645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Resultado Divulgado</a:t>
            </a:r>
            <a:endParaRPr lang="en-US" sz="1200" dirty="0"/>
          </a:p>
        </p:txBody>
      </p:sp>
      <p:pic>
        <p:nvPicPr>
          <p:cNvPr id="17" name="Picture 13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5176" y="4083034"/>
            <a:ext cx="3475645" cy="387340"/>
          </a:xfrm>
          <a:prstGeom prst="rect">
            <a:avLst/>
          </a:prstGeom>
        </p:spPr>
      </p:pic>
      <p:sp>
        <p:nvSpPr>
          <p:cNvPr id="18" name="TextBox 13"/>
          <p:cNvSpPr/>
          <p:nvPr/>
        </p:nvSpPr>
        <p:spPr>
          <a:xfrm>
            <a:off x="965176" y="4083034"/>
            <a:ext cx="3475645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 Andamento</a:t>
            </a:r>
            <a:endParaRPr lang="en-US" sz="1200" dirty="0"/>
          </a:p>
        </p:txBody>
      </p:sp>
      <p:pic>
        <p:nvPicPr>
          <p:cNvPr id="19" name="Picture 14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65176" y="4432275"/>
            <a:ext cx="3475645" cy="387340"/>
          </a:xfrm>
          <a:prstGeom prst="rect">
            <a:avLst/>
          </a:prstGeom>
        </p:spPr>
      </p:pic>
      <p:sp>
        <p:nvSpPr>
          <p:cNvPr id="20" name="TextBox 14"/>
          <p:cNvSpPr/>
          <p:nvPr/>
        </p:nvSpPr>
        <p:spPr>
          <a:xfrm>
            <a:off x="965176" y="4432275"/>
            <a:ext cx="3475645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Finalizado</a:t>
            </a:r>
            <a:endParaRPr lang="en-US" sz="1200" dirty="0"/>
          </a:p>
        </p:txBody>
      </p:sp>
      <p:pic>
        <p:nvPicPr>
          <p:cNvPr id="21" name="Picture 15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65176" y="4781516"/>
            <a:ext cx="3475645" cy="387340"/>
          </a:xfrm>
          <a:prstGeom prst="rect">
            <a:avLst/>
          </a:prstGeom>
        </p:spPr>
      </p:pic>
      <p:sp>
        <p:nvSpPr>
          <p:cNvPr id="22" name="TextBox 15"/>
          <p:cNvSpPr/>
          <p:nvPr/>
        </p:nvSpPr>
        <p:spPr>
          <a:xfrm>
            <a:off x="965176" y="4781516"/>
            <a:ext cx="3475645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Cancelado</a:t>
            </a:r>
            <a:endParaRPr lang="en-US" sz="1200" dirty="0"/>
          </a:p>
        </p:txBody>
      </p:sp>
      <p:sp>
        <p:nvSpPr>
          <p:cNvPr id="23" name="TextBox 7"/>
          <p:cNvSpPr/>
          <p:nvPr/>
        </p:nvSpPr>
        <p:spPr>
          <a:xfrm>
            <a:off x="965176" y="1930437"/>
            <a:ext cx="3475645" cy="768331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4F7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CURSO</a:t>
            </a:r>
            <a:endParaRPr lang="en-US" sz="1700" dirty="0"/>
          </a:p>
        </p:txBody>
      </p:sp>
      <p:sp>
        <p:nvSpPr>
          <p:cNvPr id="24" name="Shape 16"/>
          <p:cNvSpPr/>
          <p:nvPr/>
        </p:nvSpPr>
        <p:spPr>
          <a:xfrm>
            <a:off x="4745613" y="1778041"/>
            <a:ext cx="3780537" cy="3479713"/>
          </a:xfrm>
          <a:prstGeom prst="rect">
            <a:avLst/>
          </a:prstGeom>
          <a:solidFill>
            <a:srgbClr val="173A55"/>
          </a:solidFill>
          <a:ln/>
        </p:spPr>
      </p:sp>
      <p:pic>
        <p:nvPicPr>
          <p:cNvPr id="25" name="Picture 16" descr="__type_image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=""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45613" y="1778041"/>
            <a:ext cx="3780537" cy="3479713"/>
          </a:xfrm>
          <a:prstGeom prst="rect">
            <a:avLst/>
          </a:prstGeom>
        </p:spPr>
      </p:pic>
      <p:pic>
        <p:nvPicPr>
          <p:cNvPr id="26" name="Picture 18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898010" y="2336827"/>
            <a:ext cx="3475744" cy="387340"/>
          </a:xfrm>
          <a:prstGeom prst="rect">
            <a:avLst/>
          </a:prstGeom>
        </p:spPr>
      </p:pic>
      <p:sp>
        <p:nvSpPr>
          <p:cNvPr id="27" name="TextBox 18"/>
          <p:cNvSpPr/>
          <p:nvPr/>
        </p:nvSpPr>
        <p:spPr>
          <a:xfrm>
            <a:off x="4898010" y="2336827"/>
            <a:ext cx="3475744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Pendente</a:t>
            </a:r>
            <a:endParaRPr lang="en-US" sz="1200" dirty="0"/>
          </a:p>
        </p:txBody>
      </p:sp>
      <p:pic>
        <p:nvPicPr>
          <p:cNvPr id="28" name="Picture 19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898010" y="2686069"/>
            <a:ext cx="3475744" cy="387340"/>
          </a:xfrm>
          <a:prstGeom prst="rect">
            <a:avLst/>
          </a:prstGeom>
        </p:spPr>
      </p:pic>
      <p:sp>
        <p:nvSpPr>
          <p:cNvPr id="29" name="TextBox 19"/>
          <p:cNvSpPr/>
          <p:nvPr/>
        </p:nvSpPr>
        <p:spPr>
          <a:xfrm>
            <a:off x="4898010" y="2686069"/>
            <a:ext cx="3475744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Classificado</a:t>
            </a:r>
            <a:endParaRPr lang="en-US" sz="1200" dirty="0"/>
          </a:p>
        </p:txBody>
      </p:sp>
      <p:pic>
        <p:nvPicPr>
          <p:cNvPr id="30" name="Picture 20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898010" y="3035310"/>
            <a:ext cx="3475744" cy="387340"/>
          </a:xfrm>
          <a:prstGeom prst="rect">
            <a:avLst/>
          </a:prstGeom>
        </p:spPr>
      </p:pic>
      <p:sp>
        <p:nvSpPr>
          <p:cNvPr id="31" name="TextBox 20"/>
          <p:cNvSpPr/>
          <p:nvPr/>
        </p:nvSpPr>
        <p:spPr>
          <a:xfrm>
            <a:off x="4898010" y="3035310"/>
            <a:ext cx="3475744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Confirmado</a:t>
            </a:r>
            <a:endParaRPr lang="en-US" sz="1200" dirty="0"/>
          </a:p>
        </p:txBody>
      </p:sp>
      <p:pic>
        <p:nvPicPr>
          <p:cNvPr id="32" name="Picture 21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898010" y="3384551"/>
            <a:ext cx="3475744" cy="387340"/>
          </a:xfrm>
          <a:prstGeom prst="rect">
            <a:avLst/>
          </a:prstGeom>
        </p:spPr>
      </p:pic>
      <p:sp>
        <p:nvSpPr>
          <p:cNvPr id="33" name="TextBox 21"/>
          <p:cNvSpPr/>
          <p:nvPr/>
        </p:nvSpPr>
        <p:spPr>
          <a:xfrm>
            <a:off x="4898010" y="3384551"/>
            <a:ext cx="3475744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Lista de Espera</a:t>
            </a:r>
            <a:endParaRPr lang="en-US" sz="1200" dirty="0"/>
          </a:p>
        </p:txBody>
      </p:sp>
      <p:pic>
        <p:nvPicPr>
          <p:cNvPr id="34" name="Picture 22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898010" y="3733792"/>
            <a:ext cx="3475744" cy="387340"/>
          </a:xfrm>
          <a:prstGeom prst="rect">
            <a:avLst/>
          </a:prstGeom>
        </p:spPr>
      </p:pic>
      <p:sp>
        <p:nvSpPr>
          <p:cNvPr id="35" name="TextBox 22"/>
          <p:cNvSpPr/>
          <p:nvPr/>
        </p:nvSpPr>
        <p:spPr>
          <a:xfrm>
            <a:off x="4898010" y="3733792"/>
            <a:ext cx="3475744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Cancelada</a:t>
            </a:r>
            <a:endParaRPr lang="en-US" sz="1200" dirty="0"/>
          </a:p>
        </p:txBody>
      </p:sp>
      <p:pic>
        <p:nvPicPr>
          <p:cNvPr id="36" name="Picture 23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898010" y="4083034"/>
            <a:ext cx="3475744" cy="387340"/>
          </a:xfrm>
          <a:prstGeom prst="rect">
            <a:avLst/>
          </a:prstGeom>
        </p:spPr>
      </p:pic>
      <p:sp>
        <p:nvSpPr>
          <p:cNvPr id="37" name="TextBox 23"/>
          <p:cNvSpPr/>
          <p:nvPr/>
        </p:nvSpPr>
        <p:spPr>
          <a:xfrm>
            <a:off x="4898010" y="4083034"/>
            <a:ext cx="3475744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Expirada</a:t>
            </a:r>
            <a:endParaRPr lang="en-US" sz="1200" dirty="0"/>
          </a:p>
        </p:txBody>
      </p:sp>
      <p:pic>
        <p:nvPicPr>
          <p:cNvPr id="38" name="Picture 24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898010" y="4432275"/>
            <a:ext cx="3475744" cy="387340"/>
          </a:xfrm>
          <a:prstGeom prst="rect">
            <a:avLst/>
          </a:prstGeom>
        </p:spPr>
      </p:pic>
      <p:sp>
        <p:nvSpPr>
          <p:cNvPr id="39" name="TextBox 24"/>
          <p:cNvSpPr/>
          <p:nvPr/>
        </p:nvSpPr>
        <p:spPr>
          <a:xfrm>
            <a:off x="4898010" y="4432275"/>
            <a:ext cx="3475744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Desistente</a:t>
            </a:r>
            <a:endParaRPr lang="en-US" sz="1200" dirty="0"/>
          </a:p>
        </p:txBody>
      </p:sp>
      <p:pic>
        <p:nvPicPr>
          <p:cNvPr id="40" name="Picture 25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898010" y="4781516"/>
            <a:ext cx="3475744" cy="387340"/>
          </a:xfrm>
          <a:prstGeom prst="rect">
            <a:avLst/>
          </a:prstGeom>
        </p:spPr>
      </p:pic>
      <p:sp>
        <p:nvSpPr>
          <p:cNvPr id="41" name="TextBox 25"/>
          <p:cNvSpPr/>
          <p:nvPr/>
        </p:nvSpPr>
        <p:spPr>
          <a:xfrm>
            <a:off x="4898010" y="4781516"/>
            <a:ext cx="3475744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Não Localizado</a:t>
            </a:r>
            <a:endParaRPr lang="en-US" sz="1200" dirty="0"/>
          </a:p>
        </p:txBody>
      </p:sp>
      <p:sp>
        <p:nvSpPr>
          <p:cNvPr id="42" name="TextBox 17"/>
          <p:cNvSpPr/>
          <p:nvPr/>
        </p:nvSpPr>
        <p:spPr>
          <a:xfrm>
            <a:off x="4898010" y="1930437"/>
            <a:ext cx="3475744" cy="768331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4F7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INSCRIÇÃO</a:t>
            </a:r>
            <a:endParaRPr lang="en-US" sz="1700" dirty="0"/>
          </a:p>
        </p:txBody>
      </p:sp>
      <p:sp>
        <p:nvSpPr>
          <p:cNvPr id="43" name="Shape 26"/>
          <p:cNvSpPr/>
          <p:nvPr/>
        </p:nvSpPr>
        <p:spPr>
          <a:xfrm>
            <a:off x="8678546" y="1778041"/>
            <a:ext cx="2700270" cy="3479713"/>
          </a:xfrm>
          <a:prstGeom prst="rect">
            <a:avLst/>
          </a:prstGeom>
          <a:solidFill>
            <a:srgbClr val="173A55"/>
          </a:solidFill>
          <a:ln/>
        </p:spPr>
      </p:sp>
      <p:pic>
        <p:nvPicPr>
          <p:cNvPr id="44" name="Picture 26" descr="__type_image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=""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678546" y="1778041"/>
            <a:ext cx="2700270" cy="3479713"/>
          </a:xfrm>
          <a:prstGeom prst="rect">
            <a:avLst/>
          </a:prstGeom>
        </p:spPr>
      </p:pic>
      <p:pic>
        <p:nvPicPr>
          <p:cNvPr id="45" name="Picture 28" descr="__type_image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=""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830943" y="2336827"/>
            <a:ext cx="2395478" cy="387340"/>
          </a:xfrm>
          <a:prstGeom prst="rect">
            <a:avLst/>
          </a:prstGeom>
        </p:spPr>
      </p:pic>
      <p:sp>
        <p:nvSpPr>
          <p:cNvPr id="46" name="TextBox 28"/>
          <p:cNvSpPr/>
          <p:nvPr/>
        </p:nvSpPr>
        <p:spPr>
          <a:xfrm>
            <a:off x="8830943" y="2336827"/>
            <a:ext cx="2395478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Aguardando Confirmação</a:t>
            </a:r>
            <a:endParaRPr lang="en-US" sz="1200" dirty="0"/>
          </a:p>
        </p:txBody>
      </p:sp>
      <p:pic>
        <p:nvPicPr>
          <p:cNvPr id="47" name="Picture 29" descr="__type_image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=""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830943" y="2686069"/>
            <a:ext cx="2395478" cy="387340"/>
          </a:xfrm>
          <a:prstGeom prst="rect">
            <a:avLst/>
          </a:prstGeom>
        </p:spPr>
      </p:pic>
      <p:sp>
        <p:nvSpPr>
          <p:cNvPr id="48" name="TextBox 29"/>
          <p:cNvSpPr/>
          <p:nvPr/>
        </p:nvSpPr>
        <p:spPr>
          <a:xfrm>
            <a:off x="8830943" y="2686069"/>
            <a:ext cx="2395478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Ativa</a:t>
            </a:r>
            <a:endParaRPr lang="en-US" sz="1200" dirty="0"/>
          </a:p>
        </p:txBody>
      </p:sp>
      <p:pic>
        <p:nvPicPr>
          <p:cNvPr id="49" name="Picture 30" descr="__type_image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=""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830943" y="3035310"/>
            <a:ext cx="2395478" cy="387340"/>
          </a:xfrm>
          <a:prstGeom prst="rect">
            <a:avLst/>
          </a:prstGeom>
        </p:spPr>
      </p:pic>
      <p:sp>
        <p:nvSpPr>
          <p:cNvPr id="50" name="TextBox 30"/>
          <p:cNvSpPr/>
          <p:nvPr/>
        </p:nvSpPr>
        <p:spPr>
          <a:xfrm>
            <a:off x="8830943" y="3035310"/>
            <a:ext cx="2395478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Não Iniciada</a:t>
            </a:r>
            <a:endParaRPr lang="en-US" sz="1200" dirty="0"/>
          </a:p>
        </p:txBody>
      </p:sp>
      <p:pic>
        <p:nvPicPr>
          <p:cNvPr id="51" name="Picture 31" descr="__type_image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=""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830943" y="3384551"/>
            <a:ext cx="2395478" cy="387340"/>
          </a:xfrm>
          <a:prstGeom prst="rect">
            <a:avLst/>
          </a:prstGeom>
        </p:spPr>
      </p:pic>
      <p:sp>
        <p:nvSpPr>
          <p:cNvPr id="52" name="TextBox 31"/>
          <p:cNvSpPr/>
          <p:nvPr/>
        </p:nvSpPr>
        <p:spPr>
          <a:xfrm>
            <a:off x="8830943" y="3384551"/>
            <a:ext cx="2395478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Concluída</a:t>
            </a:r>
            <a:endParaRPr lang="en-US" sz="1200" dirty="0"/>
          </a:p>
        </p:txBody>
      </p:sp>
      <p:pic>
        <p:nvPicPr>
          <p:cNvPr id="53" name="Picture 32" descr="__type_image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=""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8830943" y="3733792"/>
            <a:ext cx="2395478" cy="387340"/>
          </a:xfrm>
          <a:prstGeom prst="rect">
            <a:avLst/>
          </a:prstGeom>
        </p:spPr>
      </p:pic>
      <p:sp>
        <p:nvSpPr>
          <p:cNvPr id="54" name="TextBox 32"/>
          <p:cNvSpPr/>
          <p:nvPr/>
        </p:nvSpPr>
        <p:spPr>
          <a:xfrm>
            <a:off x="8830943" y="3733792"/>
            <a:ext cx="2395478" cy="387340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Trancada</a:t>
            </a:r>
            <a:endParaRPr lang="en-US" sz="1200" dirty="0"/>
          </a:p>
        </p:txBody>
      </p:sp>
      <p:sp>
        <p:nvSpPr>
          <p:cNvPr id="55" name="TextBox 27"/>
          <p:cNvSpPr/>
          <p:nvPr/>
        </p:nvSpPr>
        <p:spPr>
          <a:xfrm>
            <a:off x="8830943" y="1930437"/>
            <a:ext cx="2395478" cy="768331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4F7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MATRÍCULA</a:t>
            </a:r>
            <a:endParaRPr lang="en-US" sz="1700" dirty="0"/>
          </a:p>
        </p:txBody>
      </p:sp>
      <p:sp>
        <p:nvSpPr>
          <p:cNvPr id="56" name="Shape 33"/>
          <p:cNvSpPr/>
          <p:nvPr/>
        </p:nvSpPr>
        <p:spPr>
          <a:xfrm>
            <a:off x="812780" y="5670494"/>
            <a:ext cx="5714857" cy="457189"/>
          </a:xfrm>
          <a:prstGeom prst="rect">
            <a:avLst/>
          </a:prstGeom>
          <a:noFill/>
          <a:ln/>
        </p:spPr>
      </p:sp>
      <p:pic>
        <p:nvPicPr>
          <p:cNvPr id="57" name="Picture 33" descr="__type_image"/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=""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812780" y="5670494"/>
            <a:ext cx="5714857" cy="457189"/>
          </a:xfrm>
          <a:prstGeom prst="rect">
            <a:avLst/>
          </a:prstGeom>
        </p:spPr>
      </p:pic>
      <p:sp>
        <p:nvSpPr>
          <p:cNvPr id="58" name="TextBox 34"/>
          <p:cNvSpPr/>
          <p:nvPr/>
        </p:nvSpPr>
        <p:spPr>
          <a:xfrm>
            <a:off x="958826" y="5670494"/>
            <a:ext cx="5568811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B8C8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Leia as transições como contratos de estado: toda mudança deve ser reproduzível, auditável e testável.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Box 3"/>
          <p:cNvSpPr/>
          <p:nvPr/>
        </p:nvSpPr>
        <p:spPr>
          <a:xfrm>
            <a:off x="812780" y="622370"/>
            <a:ext cx="3865367" cy="18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 CONFIGURAÇÃO À CERTIFICAÇÃO</a:t>
            </a:r>
            <a:endParaRPr lang="en-US" sz="900" dirty="0"/>
          </a:p>
        </p:txBody>
      </p:sp>
      <p:sp>
        <p:nvSpPr>
          <p:cNvPr id="4" name="TextBox 4"/>
          <p:cNvSpPr/>
          <p:nvPr/>
        </p:nvSpPr>
        <p:spPr>
          <a:xfrm>
            <a:off x="812780" y="870014"/>
            <a:ext cx="7034048" cy="1835104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02A4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Cinco fases para validar</a:t>
            </a:r>
            <a:endParaRPr lang="en-US" sz="2600" dirty="0"/>
          </a:p>
          <a:p>
            <a:pPr marL="0" indent="0" algn="l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02A4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 ciclo completo.</a:t>
            </a:r>
            <a:endParaRPr lang="en-US" sz="2600" dirty="0"/>
          </a:p>
        </p:txBody>
      </p:sp>
      <p:sp>
        <p:nvSpPr>
          <p:cNvPr id="5" name="TextBox 5"/>
          <p:cNvSpPr/>
          <p:nvPr/>
        </p:nvSpPr>
        <p:spPr>
          <a:xfrm>
            <a:off x="812780" y="2127283"/>
            <a:ext cx="10566136" cy="4032148"/>
          </a:xfrm>
          <a:prstGeom prst="rect">
            <a:avLst/>
          </a:prstGeom>
          <a:noFill/>
          <a:ln/>
        </p:spPr>
        <p:txBody>
          <a:bodyPr wrap="square" lIns="253994" tIns="0" rIns="0" bIns="0" rtlCol="0" anchor="t"/>
          <a:lstStyle/>
          <a:p>
            <a:pPr marL="783132" lvl="6" indent="-342900">
              <a:lnSpc>
                <a:spcPts val="1870"/>
              </a:lnSpc>
              <a:spcBef>
                <a:spcPts val="1000"/>
              </a:spcBef>
              <a:buSzPct val="100000"/>
              <a:buFont typeface="+mj-lt"/>
              <a:buAutoNum type="arabicPeriod"/>
            </a:pPr>
            <a:r>
              <a:rPr lang="en-US" sz="1700" b="1" dirty="0" err="1" smtClean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Planejamento</a:t>
            </a:r>
            <a:r>
              <a:rPr lang="en-US" sz="1700" b="1" dirty="0" smtClean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00" b="1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 </a:t>
            </a:r>
            <a:r>
              <a:rPr lang="en-US" sz="1700" b="1" dirty="0" err="1" smtClean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inscrições</a:t>
            </a:r>
            <a:endParaRPr lang="en-US" sz="1700" b="1" dirty="0" smtClean="0">
              <a:solidFill>
                <a:srgbClr val="102A43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1126032" lvl="7" indent="-228600">
              <a:lnSpc>
                <a:spcPts val="1584"/>
              </a:lnSpc>
              <a:spcBef>
                <a:spcPts val="900"/>
              </a:spcBef>
              <a:buSzPct val="100000"/>
            </a:pPr>
            <a:r>
              <a:rPr lang="en-US" sz="1200" dirty="0" smtClean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</a:t>
            </a:r>
            <a:r>
              <a:rPr lang="en-US" sz="1200" dirty="0" err="1" smtClean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configura</a:t>
            </a:r>
            <a:r>
              <a:rPr lang="en-US" sz="1200" dirty="0" smtClean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</a:t>
            </a:r>
            <a:r>
              <a:rPr lang="en-US" sz="1200" dirty="0" err="1" smtClean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publica</a:t>
            </a:r>
            <a:r>
              <a:rPr lang="en-US" sz="1200" dirty="0" smtClean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</a:t>
            </a:r>
            <a:r>
              <a:rPr lang="en-US" sz="1200" dirty="0" err="1" smtClean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Inscrição</a:t>
            </a:r>
            <a:r>
              <a:rPr lang="en-US" sz="1200" dirty="0" smtClean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dirty="0" err="1" smtClean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nasce</a:t>
            </a:r>
            <a:r>
              <a:rPr lang="en-US" sz="1200" dirty="0" smtClean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dirty="0" err="1" smtClean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Pendente</a:t>
            </a:r>
            <a:r>
              <a:rPr lang="en-US" sz="1200" dirty="0" smtClean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</a:t>
            </a:r>
            <a:r>
              <a:rPr lang="en-US" sz="1200" dirty="0" err="1" smtClean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pode</a:t>
            </a:r>
            <a:r>
              <a:rPr lang="en-US" sz="1200" dirty="0" smtClean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dirty="0" err="1" smtClean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cancelar</a:t>
            </a:r>
            <a:r>
              <a:rPr lang="en-US" sz="1200" dirty="0" smtClean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</a:p>
          <a:p>
            <a:pPr marL="783132" lvl="6" indent="-342900">
              <a:lnSpc>
                <a:spcPts val="1870"/>
              </a:lnSpc>
              <a:spcBef>
                <a:spcPts val="1000"/>
              </a:spcBef>
              <a:buSzPct val="100000"/>
              <a:buFont typeface="+mj-lt"/>
              <a:buAutoNum type="arabicPeriod"/>
            </a:pPr>
            <a:r>
              <a:rPr lang="en-US" sz="1700" b="1" dirty="0" err="1" smtClean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Encerramento</a:t>
            </a:r>
            <a:r>
              <a:rPr lang="en-US" sz="1700" b="1" dirty="0" smtClean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00" b="1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 classificação</a:t>
            </a:r>
            <a:endParaRPr lang="en-US" sz="1100" dirty="0"/>
          </a:p>
          <a:p>
            <a:pPr marL="1126032" lvl="7" indent="-228600">
              <a:lnSpc>
                <a:spcPts val="1584"/>
              </a:lnSpc>
              <a:spcBef>
                <a:spcPts val="900"/>
              </a:spcBef>
              <a:buSzPct val="100000"/>
            </a:pPr>
            <a:r>
              <a:rPr lang="en-US" sz="12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ClassificadorService aplica critérios objetivos. Desempate: data em milissegundos.</a:t>
            </a:r>
            <a:endParaRPr lang="en-US" sz="1100" dirty="0"/>
          </a:p>
          <a:p>
            <a:pPr marL="783132" lvl="6" indent="-342900">
              <a:lnSpc>
                <a:spcPts val="1870"/>
              </a:lnSpc>
              <a:spcBef>
                <a:spcPts val="1000"/>
              </a:spcBef>
              <a:buSzPct val="100000"/>
              <a:buFont typeface="+mj-lt"/>
              <a:buAutoNum type="arabicPeriod"/>
            </a:pPr>
            <a:r>
              <a:rPr lang="en-US" sz="1700" b="1" dirty="0" err="1" smtClean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Divulgação</a:t>
            </a:r>
            <a:r>
              <a:rPr lang="en-US" sz="1700" b="1" dirty="0" smtClean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00" b="1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 matrícula</a:t>
            </a:r>
            <a:endParaRPr lang="en-US" sz="1100" dirty="0"/>
          </a:p>
          <a:p>
            <a:pPr marL="1126032" lvl="7" indent="-228600">
              <a:lnSpc>
                <a:spcPts val="1584"/>
              </a:lnSpc>
              <a:spcBef>
                <a:spcPts val="900"/>
              </a:spcBef>
              <a:buSzPct val="100000"/>
            </a:pPr>
            <a:r>
              <a:rPr lang="en-US" sz="12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Confirmou: Confirmado e matrícula Ativa. Sem confirmação: Expirada.</a:t>
            </a:r>
            <a:endParaRPr lang="en-US" sz="1100" dirty="0"/>
          </a:p>
          <a:p>
            <a:pPr marL="783132" lvl="6" indent="-342900">
              <a:lnSpc>
                <a:spcPts val="1870"/>
              </a:lnSpc>
              <a:spcBef>
                <a:spcPts val="1000"/>
              </a:spcBef>
              <a:buSzPct val="100000"/>
              <a:buFont typeface="+mj-lt"/>
              <a:buAutoNum type="arabicPeriod"/>
            </a:pPr>
            <a:r>
              <a:rPr lang="en-US" sz="1700" b="1" dirty="0" err="1" smtClean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Execução</a:t>
            </a:r>
            <a:endParaRPr lang="en-US" sz="1100" dirty="0"/>
          </a:p>
          <a:p>
            <a:pPr marL="1126032" lvl="7" indent="-228600">
              <a:lnSpc>
                <a:spcPts val="1584"/>
              </a:lnSpc>
              <a:spcBef>
                <a:spcPts val="900"/>
              </a:spcBef>
              <a:buSzPct val="100000"/>
            </a:pPr>
            <a:r>
              <a:rPr lang="en-US" sz="12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Curso Em Andamento. Notas, frequência, Trancar ou Cancelar.</a:t>
            </a:r>
            <a:endParaRPr lang="en-US" sz="1100" dirty="0"/>
          </a:p>
          <a:p>
            <a:pPr marL="783132" lvl="6" indent="-342900">
              <a:lnSpc>
                <a:spcPts val="1870"/>
              </a:lnSpc>
              <a:spcBef>
                <a:spcPts val="1000"/>
              </a:spcBef>
              <a:buSzPct val="100000"/>
              <a:buFont typeface="+mj-lt"/>
              <a:buAutoNum type="arabicPeriod"/>
            </a:pPr>
            <a:r>
              <a:rPr lang="en-US" sz="1700" b="1" dirty="0" err="1" smtClean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Finalização</a:t>
            </a:r>
            <a:endParaRPr lang="en-US" sz="1100" dirty="0"/>
          </a:p>
          <a:p>
            <a:pPr marL="1126032" lvl="7" indent="-228600">
              <a:lnSpc>
                <a:spcPts val="1584"/>
              </a:lnSpc>
              <a:spcBef>
                <a:spcPts val="900"/>
              </a:spcBef>
              <a:buSzPct val="100000"/>
            </a:pPr>
            <a:r>
              <a:rPr lang="en-US" sz="12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Finalizado. Matrículas concluídas aptas para certificação.</a:t>
            </a:r>
            <a:endParaRPr lang="en-US" sz="1100" dirty="0"/>
          </a:p>
        </p:txBody>
      </p:sp>
      <p:sp>
        <p:nvSpPr>
          <p:cNvPr id="6" name="Shape 7"/>
          <p:cNvSpPr/>
          <p:nvPr/>
        </p:nvSpPr>
        <p:spPr>
          <a:xfrm>
            <a:off x="9399749" y="5457774"/>
            <a:ext cx="1979166" cy="701657"/>
          </a:xfrm>
          <a:prstGeom prst="rect">
            <a:avLst/>
          </a:prstGeom>
          <a:noFill/>
          <a:ln/>
        </p:spPr>
      </p:sp>
      <p:pic>
        <p:nvPicPr>
          <p:cNvPr id="7" name="Picture 7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9749" y="5457774"/>
            <a:ext cx="1979166" cy="701657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9558495" y="5470474"/>
            <a:ext cx="1820420" cy="22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Critério de aprovação</a:t>
            </a:r>
            <a:endParaRPr lang="en-US" sz="1350" dirty="0"/>
          </a:p>
        </p:txBody>
      </p:sp>
      <p:sp>
        <p:nvSpPr>
          <p:cNvPr id="9" name="TextBox 9"/>
          <p:cNvSpPr/>
          <p:nvPr/>
        </p:nvSpPr>
        <p:spPr>
          <a:xfrm>
            <a:off x="9558495" y="5765742"/>
            <a:ext cx="1820420" cy="431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nota ≥ 7,0</a:t>
            </a:r>
            <a:endParaRPr lang="en-US" sz="1100" dirty="0"/>
          </a:p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frequência ≥ 75%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TextBox 3"/>
          <p:cNvSpPr/>
          <p:nvPr/>
        </p:nvSpPr>
        <p:spPr>
          <a:xfrm>
            <a:off x="812780" y="666819"/>
            <a:ext cx="4571191" cy="18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5C5C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COMPONENTES DAS FIGURAS</a:t>
            </a:r>
            <a:endParaRPr lang="en-US" sz="900" dirty="0"/>
          </a:p>
        </p:txBody>
      </p:sp>
      <p:sp>
        <p:nvSpPr>
          <p:cNvPr id="4" name="TextBox 4"/>
          <p:cNvSpPr/>
          <p:nvPr/>
        </p:nvSpPr>
        <p:spPr>
          <a:xfrm>
            <a:off x="812780" y="927163"/>
            <a:ext cx="7629471" cy="1041373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F4F7F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Recuperação segura,</a:t>
            </a:r>
            <a:endParaRPr lang="en-US" sz="2600" dirty="0"/>
          </a:p>
          <a:p>
            <a:pPr marL="0" indent="0" algn="l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F4F7F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 dois pontos de entrada.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9219969" y="952562"/>
            <a:ext cx="2158946" cy="1092173"/>
          </a:xfrm>
          <a:prstGeom prst="rect">
            <a:avLst/>
          </a:prstGeom>
          <a:noFill/>
          <a:ln/>
        </p:spPr>
      </p:sp>
      <p:pic>
        <p:nvPicPr>
          <p:cNvPr id="6" name="Picture 5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19969" y="952562"/>
            <a:ext cx="2158946" cy="1092173"/>
          </a:xfrm>
          <a:prstGeom prst="rect">
            <a:avLst/>
          </a:prstGeom>
        </p:spPr>
      </p:pic>
      <p:sp>
        <p:nvSpPr>
          <p:cNvPr id="7" name="TextBox 6"/>
          <p:cNvSpPr/>
          <p:nvPr/>
        </p:nvSpPr>
        <p:spPr>
          <a:xfrm>
            <a:off x="9366016" y="952562"/>
            <a:ext cx="2012900" cy="155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C5C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ÁREA ADMINISTRATIVA</a:t>
            </a:r>
            <a:endParaRPr lang="en-US" sz="900" dirty="0"/>
          </a:p>
        </p:txBody>
      </p:sp>
      <p:sp>
        <p:nvSpPr>
          <p:cNvPr id="8" name="TextBox 7"/>
          <p:cNvSpPr/>
          <p:nvPr/>
        </p:nvSpPr>
        <p:spPr>
          <a:xfrm>
            <a:off x="9366016" y="1158932"/>
            <a:ext cx="2012900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4F7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Username</a:t>
            </a:r>
            <a:endParaRPr lang="en-US" sz="1200" dirty="0"/>
          </a:p>
        </p:txBody>
      </p:sp>
      <p:sp>
        <p:nvSpPr>
          <p:cNvPr id="9" name="TextBox 8"/>
          <p:cNvSpPr/>
          <p:nvPr/>
        </p:nvSpPr>
        <p:spPr>
          <a:xfrm>
            <a:off x="9366016" y="1524048"/>
            <a:ext cx="2012900" cy="155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C5C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INTERESSADOS</a:t>
            </a:r>
            <a:endParaRPr lang="en-US" sz="900" dirty="0"/>
          </a:p>
        </p:txBody>
      </p:sp>
      <p:sp>
        <p:nvSpPr>
          <p:cNvPr id="10" name="TextBox 9"/>
          <p:cNvSpPr/>
          <p:nvPr/>
        </p:nvSpPr>
        <p:spPr>
          <a:xfrm>
            <a:off x="9366016" y="1730417"/>
            <a:ext cx="2012900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4F7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CPF</a:t>
            </a:r>
            <a:endParaRPr lang="en-US" sz="1200" dirty="0"/>
          </a:p>
        </p:txBody>
      </p:sp>
      <p:sp>
        <p:nvSpPr>
          <p:cNvPr id="11" name="TextBox 10"/>
          <p:cNvSpPr/>
          <p:nvPr/>
        </p:nvSpPr>
        <p:spPr>
          <a:xfrm>
            <a:off x="736582" y="1968536"/>
            <a:ext cx="10566136" cy="3809905"/>
          </a:xfrm>
          <a:prstGeom prst="rect">
            <a:avLst/>
          </a:prstGeom>
          <a:noFill/>
          <a:ln/>
        </p:spPr>
        <p:txBody>
          <a:bodyPr wrap="square" lIns="253994" tIns="0" rIns="0" bIns="0" rtlCol="0" anchor="t"/>
          <a:lstStyle/>
          <a:p>
            <a:pPr marL="969429" lvl="2" indent="-342900">
              <a:lnSpc>
                <a:spcPts val="1500"/>
              </a:lnSpc>
              <a:spcBef>
                <a:spcPts val="1100"/>
              </a:spcBef>
              <a:buSzPct val="100000"/>
              <a:buFont typeface="+mj-lt"/>
              <a:buAutoNum type="arabicPeriod"/>
            </a:pPr>
            <a:r>
              <a:rPr lang="en-US" sz="1700" b="1" dirty="0" err="1" smtClean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Identificar</a:t>
            </a:r>
            <a:r>
              <a:rPr lang="en-US" sz="1700" b="1" dirty="0" smtClean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área</a:t>
            </a:r>
          </a:p>
          <a:p>
            <a:pPr marL="969429" lvl="2" indent="-342900">
              <a:lnSpc>
                <a:spcPts val="1500"/>
              </a:lnSpc>
              <a:spcBef>
                <a:spcPts val="1100"/>
              </a:spcBef>
              <a:buSzPct val="100000"/>
              <a:buFont typeface="+mj-lt"/>
              <a:buAutoNum type="arabicPeriod"/>
            </a:pPr>
            <a:r>
              <a:rPr lang="en-US" sz="1700" b="1" dirty="0" err="1" smtClean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Validar</a:t>
            </a:r>
            <a:r>
              <a:rPr lang="en-US" sz="1700" b="1" dirty="0" smtClean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usuário no banco</a:t>
            </a:r>
          </a:p>
          <a:p>
            <a:pPr marL="969429" lvl="2" indent="-342900">
              <a:lnSpc>
                <a:spcPts val="1500"/>
              </a:lnSpc>
              <a:spcBef>
                <a:spcPts val="1100"/>
              </a:spcBef>
              <a:buSzPct val="100000"/>
              <a:buFont typeface="+mj-lt"/>
              <a:buAutoNum type="arabicPeriod"/>
            </a:pPr>
            <a:r>
              <a:rPr lang="en-US" sz="17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Falha: Usuário não encontrado</a:t>
            </a:r>
          </a:p>
          <a:p>
            <a:pPr marL="969429" lvl="2" indent="-342900">
              <a:lnSpc>
                <a:spcPts val="1500"/>
              </a:lnSpc>
              <a:spcBef>
                <a:spcPts val="1100"/>
              </a:spcBef>
              <a:buSzPct val="100000"/>
              <a:buFont typeface="+mj-lt"/>
              <a:buAutoNum type="arabicPeriod"/>
            </a:pPr>
            <a:r>
              <a:rPr lang="en-US" sz="1700" b="1" dirty="0" err="1" smtClean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Validar</a:t>
            </a:r>
            <a:r>
              <a:rPr lang="en-US" sz="1700" b="1" dirty="0" smtClean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e-mail vinculado</a:t>
            </a:r>
          </a:p>
          <a:p>
            <a:pPr marL="969429" lvl="2" indent="-342900">
              <a:lnSpc>
                <a:spcPts val="1500"/>
              </a:lnSpc>
              <a:spcBef>
                <a:spcPts val="1100"/>
              </a:spcBef>
              <a:buSzPct val="100000"/>
              <a:buFont typeface="+mj-lt"/>
              <a:buAutoNum type="arabicPeriod"/>
            </a:pPr>
            <a:r>
              <a:rPr lang="en-US" sz="17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Falha: Email inválido</a:t>
            </a:r>
          </a:p>
          <a:p>
            <a:pPr marL="969429" lvl="2" indent="-342900">
              <a:lnSpc>
                <a:spcPts val="1500"/>
              </a:lnSpc>
              <a:spcBef>
                <a:spcPts val="1100"/>
              </a:spcBef>
              <a:buSzPct val="100000"/>
              <a:buFont typeface="+mj-lt"/>
              <a:buAutoNum type="arabicPeriod"/>
            </a:pPr>
            <a:r>
              <a:rPr lang="en-US" sz="1700" b="1" dirty="0" err="1" smtClean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Gerar</a:t>
            </a:r>
            <a:r>
              <a:rPr lang="en-US" sz="1700" b="1" dirty="0" smtClean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senha temporária e enviar link seguro</a:t>
            </a:r>
          </a:p>
          <a:p>
            <a:pPr marL="969429" lvl="2" indent="-342900">
              <a:lnSpc>
                <a:spcPts val="1500"/>
              </a:lnSpc>
              <a:spcBef>
                <a:spcPts val="1100"/>
              </a:spcBef>
              <a:buSzPct val="100000"/>
              <a:buFont typeface="+mj-lt"/>
              <a:buAutoNum type="arabicPeriod"/>
            </a:pPr>
            <a:r>
              <a:rPr lang="en-US" sz="1700" b="1" dirty="0" err="1" smtClean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Troca</a:t>
            </a:r>
            <a:r>
              <a:rPr lang="en-US" sz="1700" b="1" dirty="0" smtClean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obrigatória no primeiro login</a:t>
            </a:r>
          </a:p>
          <a:p>
            <a:pPr marL="969429" lvl="2" indent="-342900">
              <a:lnSpc>
                <a:spcPts val="1500"/>
              </a:lnSpc>
              <a:spcBef>
                <a:spcPts val="1100"/>
              </a:spcBef>
              <a:buSzPct val="100000"/>
              <a:buFont typeface="+mj-lt"/>
              <a:buAutoNum type="arabicPeriod"/>
            </a:pPr>
            <a:r>
              <a:rPr lang="en-US" sz="17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Sucesso</a:t>
            </a:r>
          </a:p>
        </p:txBody>
      </p:sp>
      <p:sp>
        <p:nvSpPr>
          <p:cNvPr id="12" name="Shape 11"/>
          <p:cNvSpPr/>
          <p:nvPr/>
        </p:nvSpPr>
        <p:spPr>
          <a:xfrm>
            <a:off x="812780" y="5778441"/>
            <a:ext cx="5206870" cy="380990"/>
          </a:xfrm>
          <a:prstGeom prst="rect">
            <a:avLst/>
          </a:prstGeom>
          <a:noFill/>
          <a:ln/>
        </p:spPr>
      </p:sp>
      <p:pic>
        <p:nvPicPr>
          <p:cNvPr id="13" name="Picture 11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780" y="5778441"/>
            <a:ext cx="5206870" cy="380990"/>
          </a:xfrm>
          <a:prstGeom prst="rect">
            <a:avLst/>
          </a:prstGeom>
        </p:spPr>
      </p:pic>
      <p:sp>
        <p:nvSpPr>
          <p:cNvPr id="14" name="TextBox 12"/>
          <p:cNvSpPr/>
          <p:nvPr/>
        </p:nvSpPr>
        <p:spPr>
          <a:xfrm>
            <a:off x="812780" y="5930837"/>
            <a:ext cx="1667329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F2B1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Proteção complementar</a:t>
            </a:r>
            <a:endParaRPr lang="en-US" sz="1100" dirty="0"/>
          </a:p>
        </p:txBody>
      </p:sp>
      <p:sp>
        <p:nvSpPr>
          <p:cNvPr id="15" name="TextBox 14"/>
          <p:cNvSpPr/>
          <p:nvPr/>
        </p:nvSpPr>
        <p:spPr>
          <a:xfrm>
            <a:off x="3050305" y="5934012"/>
            <a:ext cx="3078482" cy="203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4F7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tentativas → 30 min de bloqueio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gin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955" y="0"/>
            <a:ext cx="970409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25"/>
          <p:cNvSpPr/>
          <p:nvPr/>
        </p:nvSpPr>
        <p:spPr>
          <a:xfrm>
            <a:off x="812780" y="6216580"/>
            <a:ext cx="3746406" cy="6350"/>
          </a:xfrm>
          <a:prstGeom prst="rect">
            <a:avLst/>
          </a:prstGeom>
          <a:solidFill>
            <a:srgbClr val="B8C8D4"/>
          </a:solidFill>
          <a:ln/>
        </p:spPr>
      </p:sp>
      <p:sp>
        <p:nvSpPr>
          <p:cNvPr id="4" name="Shape 25"/>
          <p:cNvSpPr/>
          <p:nvPr/>
        </p:nvSpPr>
        <p:spPr>
          <a:xfrm>
            <a:off x="1892253" y="6216580"/>
            <a:ext cx="571486" cy="31749"/>
          </a:xfrm>
          <a:prstGeom prst="rect">
            <a:avLst/>
          </a:prstGeom>
          <a:solidFill>
            <a:srgbClr val="147D92"/>
          </a:solidFill>
          <a:ln/>
        </p:spPr>
      </p:sp>
      <p:sp>
        <p:nvSpPr>
          <p:cNvPr id="5" name="TextBox 3"/>
          <p:cNvSpPr/>
          <p:nvPr/>
        </p:nvSpPr>
        <p:spPr>
          <a:xfrm>
            <a:off x="812780" y="584271"/>
            <a:ext cx="4317892" cy="18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CHECKLIST PRINCIPAL</a:t>
            </a:r>
            <a:endParaRPr lang="en-US" sz="900" dirty="0"/>
          </a:p>
        </p:txBody>
      </p:sp>
      <p:sp>
        <p:nvSpPr>
          <p:cNvPr id="6" name="TextBox 5"/>
          <p:cNvSpPr/>
          <p:nvPr/>
        </p:nvSpPr>
        <p:spPr>
          <a:xfrm>
            <a:off x="812780" y="1701843"/>
            <a:ext cx="4317892" cy="450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objetivo é provar o comportamento do sistema em condições normais e de falha.</a:t>
            </a:r>
            <a:endParaRPr lang="en-US" sz="1200" dirty="0"/>
          </a:p>
        </p:txBody>
      </p:sp>
      <p:sp>
        <p:nvSpPr>
          <p:cNvPr id="7" name="TextBox 4"/>
          <p:cNvSpPr/>
          <p:nvPr/>
        </p:nvSpPr>
        <p:spPr>
          <a:xfrm>
            <a:off x="812780" y="838265"/>
            <a:ext cx="4317892" cy="1835104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02A4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Validar estados, regras</a:t>
            </a:r>
            <a:endParaRPr lang="en-US" sz="2600" dirty="0"/>
          </a:p>
          <a:p>
            <a:pPr marL="0" indent="0" algn="l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02A4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 exceções.</a:t>
            </a:r>
            <a:endParaRPr lang="en-US" sz="2600" dirty="0"/>
          </a:p>
        </p:txBody>
      </p:sp>
      <p:sp>
        <p:nvSpPr>
          <p:cNvPr id="8" name="Shape 7"/>
          <p:cNvSpPr/>
          <p:nvPr/>
        </p:nvSpPr>
        <p:spPr>
          <a:xfrm>
            <a:off x="5397365" y="711268"/>
            <a:ext cx="2911402" cy="888978"/>
          </a:xfrm>
          <a:prstGeom prst="rect">
            <a:avLst/>
          </a:prstGeom>
          <a:noFill/>
          <a:ln/>
        </p:spPr>
      </p:sp>
      <p:pic>
        <p:nvPicPr>
          <p:cNvPr id="9" name="Picture 7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7365" y="711268"/>
            <a:ext cx="2911402" cy="888978"/>
          </a:xfrm>
          <a:prstGeom prst="rect">
            <a:avLst/>
          </a:prstGeom>
        </p:spPr>
      </p:pic>
      <p:sp>
        <p:nvSpPr>
          <p:cNvPr id="10" name="TextBox 8"/>
          <p:cNvSpPr/>
          <p:nvPr/>
        </p:nvSpPr>
        <p:spPr>
          <a:xfrm>
            <a:off x="5492613" y="844615"/>
            <a:ext cx="685783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CURSO</a:t>
            </a:r>
            <a:endParaRPr lang="en-US" sz="900" dirty="0"/>
          </a:p>
        </p:txBody>
      </p:sp>
      <p:sp>
        <p:nvSpPr>
          <p:cNvPr id="11" name="TextBox 9"/>
          <p:cNvSpPr/>
          <p:nvPr/>
        </p:nvSpPr>
        <p:spPr>
          <a:xfrm>
            <a:off x="5492613" y="1092258"/>
            <a:ext cx="2720907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653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Ciclo completo e 8 status com suas transições.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67513" y="711268"/>
            <a:ext cx="2911402" cy="888978"/>
          </a:xfrm>
          <a:prstGeom prst="rect">
            <a:avLst/>
          </a:prstGeom>
          <a:noFill/>
          <a:ln/>
        </p:spPr>
      </p:sp>
      <p:pic>
        <p:nvPicPr>
          <p:cNvPr id="13" name="Picture 10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67513" y="711268"/>
            <a:ext cx="2911402" cy="888978"/>
          </a:xfrm>
          <a:prstGeom prst="rect">
            <a:avLst/>
          </a:prstGeom>
        </p:spPr>
      </p:pic>
      <p:sp>
        <p:nvSpPr>
          <p:cNvPr id="14" name="TextBox 11"/>
          <p:cNvSpPr/>
          <p:nvPr/>
        </p:nvSpPr>
        <p:spPr>
          <a:xfrm>
            <a:off x="8562761" y="844615"/>
            <a:ext cx="1234449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CLASSIFICAÇÃO</a:t>
            </a:r>
            <a:endParaRPr lang="en-US" sz="900" dirty="0"/>
          </a:p>
        </p:txBody>
      </p:sp>
      <p:sp>
        <p:nvSpPr>
          <p:cNvPr id="15" name="TextBox 12"/>
          <p:cNvSpPr/>
          <p:nvPr/>
        </p:nvSpPr>
        <p:spPr>
          <a:xfrm>
            <a:off x="8562761" y="1092258"/>
            <a:ext cx="2720907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653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Scores, desempate em milissegundos, vagas, lista de espera e expiração.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397365" y="1600246"/>
            <a:ext cx="2911402" cy="1092173"/>
          </a:xfrm>
          <a:prstGeom prst="rect">
            <a:avLst/>
          </a:prstGeom>
          <a:noFill/>
          <a:ln/>
        </p:spPr>
      </p:sp>
      <p:pic>
        <p:nvPicPr>
          <p:cNvPr id="17" name="Picture 13" descr="__type_image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7365" y="1600246"/>
            <a:ext cx="2911402" cy="1092173"/>
          </a:xfrm>
          <a:prstGeom prst="rect">
            <a:avLst/>
          </a:prstGeom>
        </p:spPr>
      </p:pic>
      <p:sp>
        <p:nvSpPr>
          <p:cNvPr id="18" name="TextBox 14"/>
          <p:cNvSpPr/>
          <p:nvPr/>
        </p:nvSpPr>
        <p:spPr>
          <a:xfrm>
            <a:off x="5492613" y="1733592"/>
            <a:ext cx="960116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MATRÍCULA</a:t>
            </a:r>
            <a:endParaRPr lang="en-US" sz="900" dirty="0"/>
          </a:p>
        </p:txBody>
      </p:sp>
      <p:sp>
        <p:nvSpPr>
          <p:cNvPr id="19" name="TextBox 15"/>
          <p:cNvSpPr/>
          <p:nvPr/>
        </p:nvSpPr>
        <p:spPr>
          <a:xfrm>
            <a:off x="5492613" y="1981236"/>
            <a:ext cx="2720907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653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Confirmação dentro/fora do prazo, expiração, trancamento e cancelamento.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467513" y="1600246"/>
            <a:ext cx="2911402" cy="1092173"/>
          </a:xfrm>
          <a:prstGeom prst="rect">
            <a:avLst/>
          </a:prstGeom>
          <a:noFill/>
          <a:ln/>
        </p:spPr>
      </p:sp>
      <p:pic>
        <p:nvPicPr>
          <p:cNvPr id="21" name="Picture 16" descr="__type_image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67513" y="1600246"/>
            <a:ext cx="2911402" cy="1092173"/>
          </a:xfrm>
          <a:prstGeom prst="rect">
            <a:avLst/>
          </a:prstGeom>
        </p:spPr>
      </p:pic>
      <p:sp>
        <p:nvSpPr>
          <p:cNvPr id="22" name="TextBox 17"/>
          <p:cNvSpPr/>
          <p:nvPr/>
        </p:nvSpPr>
        <p:spPr>
          <a:xfrm>
            <a:off x="8562761" y="1733592"/>
            <a:ext cx="960116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ACADÊMICO</a:t>
            </a:r>
            <a:endParaRPr lang="en-US" sz="900" dirty="0"/>
          </a:p>
        </p:txBody>
      </p:sp>
      <p:sp>
        <p:nvSpPr>
          <p:cNvPr id="23" name="TextBox 18"/>
          <p:cNvSpPr/>
          <p:nvPr/>
        </p:nvSpPr>
        <p:spPr>
          <a:xfrm>
            <a:off x="8562761" y="1981236"/>
            <a:ext cx="2720907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653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Certificação somente com nota ≥ 7,0 e frequência ≥ 75%.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397365" y="2692418"/>
            <a:ext cx="2911402" cy="888978"/>
          </a:xfrm>
          <a:prstGeom prst="rect">
            <a:avLst/>
          </a:prstGeom>
          <a:noFill/>
          <a:ln/>
        </p:spPr>
      </p:sp>
      <p:pic>
        <p:nvPicPr>
          <p:cNvPr id="25" name="Picture 19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97365" y="2692418"/>
            <a:ext cx="2911402" cy="888978"/>
          </a:xfrm>
          <a:prstGeom prst="rect">
            <a:avLst/>
          </a:prstGeom>
        </p:spPr>
      </p:pic>
      <p:sp>
        <p:nvSpPr>
          <p:cNvPr id="26" name="TextBox 20"/>
          <p:cNvSpPr/>
          <p:nvPr/>
        </p:nvSpPr>
        <p:spPr>
          <a:xfrm>
            <a:off x="5492613" y="2825765"/>
            <a:ext cx="1097332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RECUPERAÇÃO</a:t>
            </a:r>
            <a:endParaRPr lang="en-US" sz="900" dirty="0"/>
          </a:p>
        </p:txBody>
      </p:sp>
      <p:sp>
        <p:nvSpPr>
          <p:cNvPr id="27" name="TextBox 21"/>
          <p:cNvSpPr/>
          <p:nvPr/>
        </p:nvSpPr>
        <p:spPr>
          <a:xfrm>
            <a:off x="5492613" y="3073409"/>
            <a:ext cx="2720907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653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por username; interessado por CPF; falhas e troca obrigatória.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467513" y="2692418"/>
            <a:ext cx="2911402" cy="888978"/>
          </a:xfrm>
          <a:prstGeom prst="rect">
            <a:avLst/>
          </a:prstGeom>
          <a:noFill/>
          <a:ln/>
        </p:spPr>
      </p:sp>
      <p:pic>
        <p:nvPicPr>
          <p:cNvPr id="29" name="Picture 22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7513" y="2692418"/>
            <a:ext cx="2911402" cy="888978"/>
          </a:xfrm>
          <a:prstGeom prst="rect">
            <a:avLst/>
          </a:prstGeom>
        </p:spPr>
      </p:pic>
      <p:sp>
        <p:nvSpPr>
          <p:cNvPr id="30" name="TextBox 23"/>
          <p:cNvSpPr/>
          <p:nvPr/>
        </p:nvSpPr>
        <p:spPr>
          <a:xfrm>
            <a:off x="8562761" y="2825765"/>
            <a:ext cx="960116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SEGURANÇA</a:t>
            </a:r>
            <a:endParaRPr lang="en-US" sz="900" dirty="0"/>
          </a:p>
        </p:txBody>
      </p:sp>
      <p:sp>
        <p:nvSpPr>
          <p:cNvPr id="31" name="TextBox 24"/>
          <p:cNvSpPr/>
          <p:nvPr/>
        </p:nvSpPr>
        <p:spPr>
          <a:xfrm>
            <a:off x="8562761" y="3073409"/>
            <a:ext cx="2720907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3653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Bloqueio, criptografia CPF/NIS, auditoria, CPF único e NIS para cotas.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TextBox 3"/>
          <p:cNvSpPr/>
          <p:nvPr/>
        </p:nvSpPr>
        <p:spPr>
          <a:xfrm>
            <a:off x="812780" y="666819"/>
            <a:ext cx="3809905" cy="18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5C5C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EXECUÇÃO DOS TESTES</a:t>
            </a:r>
            <a:endParaRPr lang="en-US" sz="900" dirty="0"/>
          </a:p>
        </p:txBody>
      </p:sp>
      <p:sp>
        <p:nvSpPr>
          <p:cNvPr id="4" name="TextBox 4"/>
          <p:cNvSpPr/>
          <p:nvPr/>
        </p:nvSpPr>
        <p:spPr>
          <a:xfrm>
            <a:off x="812780" y="920813"/>
            <a:ext cx="3809905" cy="2673283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704"/>
              </a:lnSpc>
              <a:buNone/>
            </a:pPr>
            <a:r>
              <a:rPr lang="en-US" sz="2600" b="1" dirty="0">
                <a:solidFill>
                  <a:srgbClr val="F4F7F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Teste cada regra</a:t>
            </a:r>
            <a:endParaRPr lang="en-US" sz="2600" dirty="0"/>
          </a:p>
          <a:p>
            <a:pPr marL="0" indent="0" algn="l">
              <a:lnSpc>
                <a:spcPts val="2704"/>
              </a:lnSpc>
              <a:buNone/>
            </a:pPr>
            <a:r>
              <a:rPr lang="en-US" sz="2600" b="1" dirty="0">
                <a:solidFill>
                  <a:srgbClr val="F4F7F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 seu resultado esperado.</a:t>
            </a:r>
            <a:endParaRPr lang="en-US" sz="2600" dirty="0"/>
          </a:p>
        </p:txBody>
      </p:sp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5016375" y="666819"/>
          <a:ext cx="41223174" cy="13111235"/>
        </p:xfrm>
        <a:graphic>
          <a:graphicData uri="http://schemas.openxmlformats.org/drawingml/2006/table">
            <a:tbl>
              <a:tblPr/>
              <a:tblGrid>
                <a:gridCol w="13741058"/>
                <a:gridCol w="13741058"/>
                <a:gridCol w="13741058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kern="0" spc="50" dirty="0">
                          <a:solidFill>
                            <a:srgbClr val="65C5C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DOMÍNIO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857829" marR="6857829" marT="457189" marB="77722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5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kern="0" spc="50" dirty="0">
                          <a:solidFill>
                            <a:srgbClr val="65C5C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ENTRADA / CONDIÇÃO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857829" marR="6857829" marT="457189" marB="77722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5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kern="0" spc="50" dirty="0">
                          <a:solidFill>
                            <a:srgbClr val="65C5C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EVIDÊNCIA ESPERADA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857829" marR="6857829" marT="457189" marB="77722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65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B1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Classificação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5248" marR="95248" marT="146046" marB="14604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65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7E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Scores iguais e inscrição em milissegundos diferentes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5248" marR="95248" marT="146046" marB="14604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65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7E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Desempate pela data de inscrição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5248" marR="95248" marT="146046" marB="14604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65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B1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Vagas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5248" marR="95248" marT="146046" marB="14604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7E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Candidato classificado não confirma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5248" marR="95248" marT="146046" marB="14604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7E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Expirada; vaga liberada para lista de espera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5248" marR="95248" marT="146046" marB="14604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B1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Acadêmico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5248" marR="95248" marT="146046" marB="14604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7E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Nota e frequência nos limites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5248" marR="95248" marT="146046" marB="14604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7E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Apto somente em nota ≥ 7,0 e frequência ≥ 75%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5248" marR="95248" marT="146046" marB="14604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B1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Senha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5248" marR="95248" marT="146046" marB="14604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7E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Username ou CPF; usuário/e-mail inválido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5248" marR="95248" marT="146046" marB="14604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7E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Fluxo correto ou mensagem de falha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5248" marR="95248" marT="146046" marB="14604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B13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Segurança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5248" marR="95248" marT="146046" marB="14604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7E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 tentativas consecutivas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5248" marR="95248" marT="146046" marB="14604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7E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Bloqueio de 30 minutos e registro auditável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5248" marR="95248" marT="146046" marB="14604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812780" y="5867339"/>
            <a:ext cx="4425343" cy="228594"/>
          </a:xfrm>
          <a:prstGeom prst="rect">
            <a:avLst/>
          </a:prstGeom>
          <a:noFill/>
          <a:ln/>
        </p:spPr>
      </p:sp>
      <p:pic>
        <p:nvPicPr>
          <p:cNvPr id="7" name="Picture 6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780" y="5867339"/>
            <a:ext cx="4425343" cy="228594"/>
          </a:xfrm>
          <a:prstGeom prst="rect">
            <a:avLst/>
          </a:prstGeom>
        </p:spPr>
      </p:pic>
      <p:sp>
        <p:nvSpPr>
          <p:cNvPr id="8" name="TextBox 7"/>
          <p:cNvSpPr/>
          <p:nvPr/>
        </p:nvSpPr>
        <p:spPr>
          <a:xfrm>
            <a:off x="958826" y="5867339"/>
            <a:ext cx="4279297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B8C8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Registrar pré-condições, passos, resultado atual e evidência.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Box 3"/>
          <p:cNvSpPr/>
          <p:nvPr/>
        </p:nvSpPr>
        <p:spPr>
          <a:xfrm>
            <a:off x="812780" y="825565"/>
            <a:ext cx="3809905" cy="18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ANTES DO DATACENTER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812780" y="1936787"/>
            <a:ext cx="3809905" cy="450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projeto está na fase final de consolidação e testes de estresse.</a:t>
            </a:r>
            <a:endParaRPr lang="en-US" sz="1200" dirty="0"/>
          </a:p>
        </p:txBody>
      </p:sp>
      <p:sp>
        <p:nvSpPr>
          <p:cNvPr id="5" name="TextBox 4"/>
          <p:cNvSpPr/>
          <p:nvPr/>
        </p:nvSpPr>
        <p:spPr>
          <a:xfrm>
            <a:off x="812780" y="1085909"/>
            <a:ext cx="3809905" cy="1803355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2678"/>
              </a:lnSpc>
              <a:buNone/>
            </a:pPr>
            <a:r>
              <a:rPr lang="en-US" sz="2600" b="1" dirty="0">
                <a:solidFill>
                  <a:srgbClr val="102A4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 que precisa</a:t>
            </a:r>
            <a:endParaRPr lang="en-US" sz="2600" dirty="0"/>
          </a:p>
          <a:p>
            <a:pPr marL="0" indent="0" algn="l">
              <a:lnSpc>
                <a:spcPts val="2678"/>
              </a:lnSpc>
              <a:buNone/>
            </a:pPr>
            <a:r>
              <a:rPr lang="en-US" sz="2600" b="1" dirty="0">
                <a:solidFill>
                  <a:srgbClr val="102A4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ser estressado.</a:t>
            </a:r>
            <a:endParaRPr lang="en-US" sz="2600" dirty="0"/>
          </a:p>
        </p:txBody>
      </p:sp>
      <p:sp>
        <p:nvSpPr>
          <p:cNvPr id="6" name="Shape 7"/>
          <p:cNvSpPr/>
          <p:nvPr/>
        </p:nvSpPr>
        <p:spPr>
          <a:xfrm>
            <a:off x="5397365" y="825565"/>
            <a:ext cx="2895528" cy="781030"/>
          </a:xfrm>
          <a:prstGeom prst="rect">
            <a:avLst/>
          </a:prstGeom>
          <a:noFill/>
          <a:ln/>
        </p:spPr>
      </p:sp>
      <p:pic>
        <p:nvPicPr>
          <p:cNvPr id="7" name="Picture 7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7365" y="825565"/>
            <a:ext cx="2895528" cy="781030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5473563" y="984311"/>
            <a:ext cx="342891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CARGA</a:t>
            </a:r>
            <a:endParaRPr lang="en-US" sz="900" dirty="0"/>
          </a:p>
        </p:txBody>
      </p:sp>
      <p:sp>
        <p:nvSpPr>
          <p:cNvPr id="9" name="TextBox 9"/>
          <p:cNvSpPr/>
          <p:nvPr/>
        </p:nvSpPr>
        <p:spPr>
          <a:xfrm>
            <a:off x="5473563" y="1231955"/>
            <a:ext cx="2743131" cy="241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Classificação de grandes volumes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8483388" y="825565"/>
            <a:ext cx="2895528" cy="781030"/>
          </a:xfrm>
          <a:prstGeom prst="rect">
            <a:avLst/>
          </a:prstGeom>
          <a:noFill/>
          <a:ln/>
        </p:spPr>
      </p:sp>
      <p:pic>
        <p:nvPicPr>
          <p:cNvPr id="11" name="Picture 10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3388" y="825565"/>
            <a:ext cx="2895528" cy="781030"/>
          </a:xfrm>
          <a:prstGeom prst="rect">
            <a:avLst/>
          </a:prstGeom>
        </p:spPr>
      </p:pic>
      <p:sp>
        <p:nvSpPr>
          <p:cNvPr id="12" name="TextBox 11"/>
          <p:cNvSpPr/>
          <p:nvPr/>
        </p:nvSpPr>
        <p:spPr>
          <a:xfrm>
            <a:off x="8559586" y="984311"/>
            <a:ext cx="822999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CONCORRÊNCIA</a:t>
            </a:r>
            <a:endParaRPr lang="en-US" sz="900" dirty="0"/>
          </a:p>
        </p:txBody>
      </p:sp>
      <p:sp>
        <p:nvSpPr>
          <p:cNvPr id="13" name="TextBox 12"/>
          <p:cNvSpPr/>
          <p:nvPr/>
        </p:nvSpPr>
        <p:spPr>
          <a:xfrm>
            <a:off x="8559586" y="1231955"/>
            <a:ext cx="2743131" cy="241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Liberação de vagas em paralelo</a:t>
            </a:r>
            <a:endParaRPr lang="en-US" sz="1200" dirty="0"/>
          </a:p>
        </p:txBody>
      </p:sp>
      <p:sp>
        <p:nvSpPr>
          <p:cNvPr id="14" name="Shape 13"/>
          <p:cNvSpPr/>
          <p:nvPr/>
        </p:nvSpPr>
        <p:spPr>
          <a:xfrm>
            <a:off x="5397365" y="1606596"/>
            <a:ext cx="2895528" cy="977876"/>
          </a:xfrm>
          <a:prstGeom prst="rect">
            <a:avLst/>
          </a:prstGeom>
          <a:noFill/>
          <a:ln/>
        </p:spPr>
      </p:sp>
      <p:pic>
        <p:nvPicPr>
          <p:cNvPr id="15" name="Picture 13" descr="__type_image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7365" y="1606596"/>
            <a:ext cx="2895528" cy="977876"/>
          </a:xfrm>
          <a:prstGeom prst="rect">
            <a:avLst/>
          </a:prstGeom>
        </p:spPr>
      </p:pic>
      <p:sp>
        <p:nvSpPr>
          <p:cNvPr id="16" name="TextBox 14"/>
          <p:cNvSpPr/>
          <p:nvPr/>
        </p:nvSpPr>
        <p:spPr>
          <a:xfrm>
            <a:off x="5473563" y="1765342"/>
            <a:ext cx="274333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SMTP</a:t>
            </a:r>
            <a:endParaRPr lang="en-US" sz="900" dirty="0"/>
          </a:p>
        </p:txBody>
      </p:sp>
      <p:sp>
        <p:nvSpPr>
          <p:cNvPr id="17" name="TextBox 15"/>
          <p:cNvSpPr/>
          <p:nvPr/>
        </p:nvSpPr>
        <p:spPr>
          <a:xfrm>
            <a:off x="5473563" y="2012985"/>
            <a:ext cx="2743131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Entregabilidade de e-mails pelo datacenter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83388" y="1606596"/>
            <a:ext cx="2895528" cy="977876"/>
          </a:xfrm>
          <a:prstGeom prst="rect">
            <a:avLst/>
          </a:prstGeom>
          <a:noFill/>
          <a:ln/>
        </p:spPr>
      </p:sp>
      <p:pic>
        <p:nvPicPr>
          <p:cNvPr id="19" name="Picture 16" descr="__type_image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83388" y="1606596"/>
            <a:ext cx="2895528" cy="977876"/>
          </a:xfrm>
          <a:prstGeom prst="rect">
            <a:avLst/>
          </a:prstGeom>
        </p:spPr>
      </p:pic>
      <p:sp>
        <p:nvSpPr>
          <p:cNvPr id="20" name="TextBox 17"/>
          <p:cNvSpPr/>
          <p:nvPr/>
        </p:nvSpPr>
        <p:spPr>
          <a:xfrm>
            <a:off x="8559586" y="1765342"/>
            <a:ext cx="891557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RATE-LIMITING</a:t>
            </a:r>
            <a:endParaRPr lang="en-US" sz="900" dirty="0"/>
          </a:p>
        </p:txBody>
      </p:sp>
      <p:sp>
        <p:nvSpPr>
          <p:cNvPr id="21" name="TextBox 18"/>
          <p:cNvSpPr/>
          <p:nvPr/>
        </p:nvSpPr>
        <p:spPr>
          <a:xfrm>
            <a:off x="8559586" y="2012985"/>
            <a:ext cx="2743131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Comportamento do bloqueio após tentativas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397365" y="2584471"/>
            <a:ext cx="2895528" cy="781030"/>
          </a:xfrm>
          <a:prstGeom prst="rect">
            <a:avLst/>
          </a:prstGeom>
          <a:noFill/>
          <a:ln/>
        </p:spPr>
      </p:sp>
      <p:pic>
        <p:nvPicPr>
          <p:cNvPr id="23" name="Picture 19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97365" y="2584471"/>
            <a:ext cx="2895528" cy="781030"/>
          </a:xfrm>
          <a:prstGeom prst="rect">
            <a:avLst/>
          </a:prstGeom>
        </p:spPr>
      </p:pic>
      <p:sp>
        <p:nvSpPr>
          <p:cNvPr id="24" name="TextBox 20"/>
          <p:cNvSpPr/>
          <p:nvPr/>
        </p:nvSpPr>
        <p:spPr>
          <a:xfrm>
            <a:off x="5473563" y="2743217"/>
            <a:ext cx="274333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LGPD</a:t>
            </a:r>
            <a:endParaRPr lang="en-US" sz="900" dirty="0"/>
          </a:p>
        </p:txBody>
      </p:sp>
      <p:sp>
        <p:nvSpPr>
          <p:cNvPr id="25" name="TextBox 21"/>
          <p:cNvSpPr/>
          <p:nvPr/>
        </p:nvSpPr>
        <p:spPr>
          <a:xfrm>
            <a:off x="5473563" y="2990861"/>
            <a:ext cx="2743131" cy="241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Anonimização e proteção de dados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12780" y="5600646"/>
            <a:ext cx="10566136" cy="463538"/>
          </a:xfrm>
          <a:prstGeom prst="rect">
            <a:avLst/>
          </a:prstGeom>
          <a:noFill/>
          <a:ln/>
        </p:spPr>
      </p:sp>
      <p:pic>
        <p:nvPicPr>
          <p:cNvPr id="27" name="Picture 22" descr="__type_image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2780" y="5600646"/>
            <a:ext cx="10566136" cy="463538"/>
          </a:xfrm>
          <a:prstGeom prst="rect">
            <a:avLst/>
          </a:prstGeom>
        </p:spPr>
      </p:pic>
      <p:sp>
        <p:nvSpPr>
          <p:cNvPr id="28" name="TextBox 23"/>
          <p:cNvSpPr/>
          <p:nvPr/>
        </p:nvSpPr>
        <p:spPr>
          <a:xfrm>
            <a:off x="812780" y="5841940"/>
            <a:ext cx="1544301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147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 DE IMPLANTAÇÃO</a:t>
            </a:r>
            <a:endParaRPr lang="en-US" sz="900" dirty="0"/>
          </a:p>
        </p:txBody>
      </p:sp>
      <p:sp>
        <p:nvSpPr>
          <p:cNvPr id="29" name="TextBox 24"/>
          <p:cNvSpPr/>
          <p:nvPr/>
        </p:nvSpPr>
        <p:spPr>
          <a:xfrm>
            <a:off x="8120554" y="5786379"/>
            <a:ext cx="3258362" cy="25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2B1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Validar → registrar → corrigir → repetir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__type_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  <p:sp>
        <p:nvSpPr>
          <p:cNvPr id="3" name="TextBox 4"/>
          <p:cNvSpPr/>
          <p:nvPr/>
        </p:nvSpPr>
        <p:spPr>
          <a:xfrm>
            <a:off x="812780" y="952562"/>
            <a:ext cx="5968851" cy="18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5C5C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PRÓXIMO PASSO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812780" y="1257354"/>
            <a:ext cx="7586941" cy="3930552"/>
          </a:xfrm>
          <a:prstGeom prst="rect">
            <a:avLst/>
          </a:prstGeom>
          <a:noFill/>
          <a:ln/>
        </p:spPr>
        <p:txBody>
          <a:bodyPr wrap="square" lIns="0" tIns="0" rIns="0" bIns="12700" rtlCol="0" anchor="t"/>
          <a:lstStyle/>
          <a:p>
            <a:pPr marL="0" indent="0" algn="l">
              <a:lnSpc>
                <a:spcPts val="3978"/>
              </a:lnSpc>
              <a:buNone/>
            </a:pPr>
            <a:r>
              <a:rPr lang="en-US" sz="3900" b="1" dirty="0">
                <a:solidFill>
                  <a:srgbClr val="F4F7F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Pronto para validar.</a:t>
            </a:r>
            <a:endParaRPr lang="en-US" sz="3900" dirty="0"/>
          </a:p>
          <a:p>
            <a:pPr marL="0" indent="0" algn="l">
              <a:lnSpc>
                <a:spcPts val="3978"/>
              </a:lnSpc>
              <a:buNone/>
            </a:pPr>
            <a:r>
              <a:rPr lang="en-US" sz="3900" b="1" dirty="0">
                <a:solidFill>
                  <a:srgbClr val="F2B13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Não pronto </a:t>
            </a:r>
            <a:r>
              <a:rPr lang="en-US" sz="3900" b="1" dirty="0" err="1">
                <a:solidFill>
                  <a:srgbClr val="F2B13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para</a:t>
            </a:r>
            <a:r>
              <a:rPr lang="en-US" sz="3900" b="1" dirty="0">
                <a:solidFill>
                  <a:srgbClr val="F2B13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</a:t>
            </a:r>
            <a:r>
              <a:rPr lang="en-US" sz="3900" b="1" dirty="0" err="1" smtClean="0">
                <a:solidFill>
                  <a:srgbClr val="F2B13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produção</a:t>
            </a:r>
            <a:r>
              <a:rPr lang="en-US" sz="3900" b="1" dirty="0" smtClean="0">
                <a:solidFill>
                  <a:srgbClr val="F2B13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.</a:t>
            </a:r>
            <a:endParaRPr lang="en-US" sz="3900" dirty="0"/>
          </a:p>
        </p:txBody>
      </p:sp>
      <p:sp>
        <p:nvSpPr>
          <p:cNvPr id="5" name="TextBox 6"/>
          <p:cNvSpPr/>
          <p:nvPr/>
        </p:nvSpPr>
        <p:spPr>
          <a:xfrm>
            <a:off x="812780" y="2425725"/>
            <a:ext cx="730400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F4F7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sistema está tecnicamente pronto, mas a implantação depende da validação sistemática pelos analistas.</a:t>
            </a:r>
            <a:endParaRPr lang="en-US" sz="1100" dirty="0"/>
          </a:p>
        </p:txBody>
      </p:sp>
      <p:sp>
        <p:nvSpPr>
          <p:cNvPr id="6" name="Shape 7"/>
          <p:cNvSpPr/>
          <p:nvPr/>
        </p:nvSpPr>
        <p:spPr>
          <a:xfrm>
            <a:off x="8648484" y="1301803"/>
            <a:ext cx="2730432" cy="1314417"/>
          </a:xfrm>
          <a:prstGeom prst="rect">
            <a:avLst/>
          </a:prstGeom>
          <a:noFill/>
          <a:ln/>
        </p:spPr>
      </p:sp>
      <p:pic>
        <p:nvPicPr>
          <p:cNvPr id="7" name="Picture 7" descr="__type_image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48484" y="1301803"/>
            <a:ext cx="2730432" cy="1314417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8826279" y="1314503"/>
            <a:ext cx="2363431" cy="47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4F7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falha encontrada deve conter:</a:t>
            </a:r>
            <a:endParaRPr lang="en-US" sz="1350" dirty="0"/>
          </a:p>
        </p:txBody>
      </p:sp>
      <p:sp>
        <p:nvSpPr>
          <p:cNvPr id="9" name="TextBox 9"/>
          <p:cNvSpPr/>
          <p:nvPr/>
        </p:nvSpPr>
        <p:spPr>
          <a:xfrm>
            <a:off x="8826279" y="1930437"/>
            <a:ext cx="2552636" cy="723882"/>
          </a:xfrm>
          <a:prstGeom prst="rect">
            <a:avLst/>
          </a:prstGeom>
          <a:noFill/>
          <a:ln/>
        </p:spPr>
        <p:txBody>
          <a:bodyPr wrap="square" lIns="177796" tIns="0" rIns="0" bIns="0" rtlCol="0" anchor="t"/>
          <a:lstStyle/>
          <a:p>
            <a:pPr marL="169329" indent="-169329" algn="l">
              <a:lnSpc>
                <a:spcPts val="18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Passos de reprodução</a:t>
            </a:r>
            <a:endParaRPr lang="en-US" sz="1200" dirty="0"/>
          </a:p>
          <a:p>
            <a:pPr marL="169329" indent="-169329" algn="l">
              <a:lnSpc>
                <a:spcPts val="18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Resultado esperado e atual</a:t>
            </a:r>
            <a:endParaRPr lang="en-US" sz="1200" dirty="0"/>
          </a:p>
          <a:p>
            <a:pPr marL="169329" indent="-169329" algn="l">
              <a:lnSpc>
                <a:spcPts val="18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D7E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Evidência do comportamento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812780" y="5632395"/>
            <a:ext cx="10566136" cy="463538"/>
          </a:xfrm>
          <a:prstGeom prst="rect">
            <a:avLst/>
          </a:prstGeom>
          <a:noFill/>
          <a:ln/>
        </p:spPr>
      </p:sp>
      <p:pic>
        <p:nvPicPr>
          <p:cNvPr id="11" name="Picture 10" descr="__type_image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780" y="5632395"/>
            <a:ext cx="10566136" cy="463538"/>
          </a:xfrm>
          <a:prstGeom prst="rect">
            <a:avLst/>
          </a:prstGeom>
        </p:spPr>
      </p:pic>
      <p:sp>
        <p:nvSpPr>
          <p:cNvPr id="12" name="TextBox 11"/>
          <p:cNvSpPr/>
          <p:nvPr/>
        </p:nvSpPr>
        <p:spPr>
          <a:xfrm>
            <a:off x="812780" y="5873689"/>
            <a:ext cx="894137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5C5C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EVENTOSMETA</a:t>
            </a:r>
            <a:endParaRPr lang="en-US" sz="900" dirty="0"/>
          </a:p>
        </p:txBody>
      </p:sp>
      <p:sp>
        <p:nvSpPr>
          <p:cNvPr id="13" name="TextBox 12"/>
          <p:cNvSpPr/>
          <p:nvPr/>
        </p:nvSpPr>
        <p:spPr>
          <a:xfrm>
            <a:off x="8116784" y="5818128"/>
            <a:ext cx="3262132" cy="25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2B13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Validar o ciclo. Proteger a implantação.</a:t>
            </a:r>
            <a:endParaRPr lang="en-US" sz="1350" dirty="0"/>
          </a:p>
        </p:txBody>
      </p:sp>
      <p:sp>
        <p:nvSpPr>
          <p:cNvPr id="14" name="Retângulo 13"/>
          <p:cNvSpPr/>
          <p:nvPr/>
        </p:nvSpPr>
        <p:spPr>
          <a:xfrm>
            <a:off x="4466387" y="4582612"/>
            <a:ext cx="2432076" cy="6052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978"/>
              </a:lnSpc>
            </a:pPr>
            <a:r>
              <a:rPr lang="en-US" sz="3600" b="1" dirty="0" smtClean="0">
                <a:solidFill>
                  <a:srgbClr val="F2B13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Obrigado!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718</Words>
  <Application>Microsoft Office PowerPoint</Application>
  <PresentationFormat>Personalizar</PresentationFormat>
  <Paragraphs>199</Paragraphs>
  <Slides>12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IBM Plex Mono</vt:lpstr>
      <vt:lpstr>Calibri</vt:lpstr>
      <vt:lpstr>DM Sans</vt:lpstr>
      <vt:lpstr>Bricolage Grotesque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Marcos Aparecido Piardi</cp:lastModifiedBy>
  <cp:revision>11</cp:revision>
  <dcterms:created xsi:type="dcterms:W3CDTF">2026-09-24T13:23:10Z</dcterms:created>
  <dcterms:modified xsi:type="dcterms:W3CDTF">2026-09-24T15:16:37Z</dcterms:modified>
</cp:coreProperties>
</file>